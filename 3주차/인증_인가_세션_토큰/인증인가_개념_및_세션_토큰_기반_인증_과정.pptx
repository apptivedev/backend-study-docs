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7"/>
  </p:notesMasterIdLst>
  <p:sldIdLst>
    <p:sldId id="256" r:id="rId2"/>
    <p:sldId id="257" r:id="rId3"/>
    <p:sldId id="266" r:id="rId4"/>
    <p:sldId id="267" r:id="rId5"/>
    <p:sldId id="258" r:id="rId6"/>
    <p:sldId id="259" r:id="rId7"/>
    <p:sldId id="260" r:id="rId8"/>
    <p:sldId id="261" r:id="rId9"/>
    <p:sldId id="268" r:id="rId10"/>
    <p:sldId id="262" r:id="rId11"/>
    <p:sldId id="269" r:id="rId12"/>
    <p:sldId id="263" r:id="rId13"/>
    <p:sldId id="270" r:id="rId14"/>
    <p:sldId id="264" r:id="rId15"/>
    <p:sldId id="265" r:id="rId16"/>
  </p:sldIdLst>
  <p:sldSz cx="14630400" cy="8229600"/>
  <p:notesSz cx="8229600" cy="14630400"/>
  <p:embeddedFontLst>
    <p:embeddedFont>
      <p:font typeface="Nunito Light" pitchFamily="2" charset="0"/>
      <p:regular r:id="rId18"/>
      <p:italic r:id="rId19"/>
    </p:embeddedFont>
    <p:embeddedFont>
      <p:font typeface="Nunito Semi Bold" panose="020B0604020202020204" charset="0"/>
      <p:regular r:id="rId20"/>
    </p:embeddedFont>
    <p:embeddedFont>
      <p:font typeface="PT Sans" panose="020B0503020203020204" pitchFamily="34" charset="0"/>
      <p:regular r:id="rId21"/>
      <p:bold r:id="rId22"/>
    </p:embeddedFont>
  </p:embeddedFontLst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69" d="100"/>
          <a:sy n="69" d="100"/>
        </p:scale>
        <p:origin x="677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font" Target="fonts/font1.fntdata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font" Target="fonts/font4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font" Target="fonts/font3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font" Target="fonts/font2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5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19063946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AAA7EAB-BC7E-9D6F-96EE-2F7EA855364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07FA188-C97F-750E-DFA9-464E8C74A04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F97BAAA-34D7-8F0F-5C2F-8A86719DFF5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8B4D1A9-82A2-A9B9-349A-31C61B5F369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5274120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9E78509-0A15-B5A1-08CD-1AF2BEB0E42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E6B0045-8DAD-79C0-36FF-AE5933D19D8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8DF6E2D-B901-A44E-31F3-52D21C97EA4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C8C9265-6A9A-A0DF-1A85-65670500DEF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0349805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CEE95C4-9DCC-1908-3553-12317201E47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F9E8743-21AF-F4F6-A0D4-66AED303E8B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6335239-DFED-32E0-ABE6-17510ADD91A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61C0046-4619-0DEE-9245-2DE2BA0019B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21014220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EC7BD74-6E02-2EB7-AEC5-885E1C05408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08D30D0-3E36-D115-BE95-42B144D236B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4F8199F-F179-2377-CDCA-B8C3D851520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2269215-ED20-1668-84A4-A0393C8FD29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215545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0B7B9AC-C76E-AFB5-8908-351300EEFD2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DC7712B-14ED-7F6B-319D-56EE58B7F93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14EBC50-52AB-C560-754D-159876EDFBC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29E4863-906B-EA37-F940-09C711BF759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39279372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0002E">
              <a:alpha val="75000"/>
            </a:srgbClr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0002E">
              <a:alpha val="75000"/>
            </a:srgbClr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3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0002E">
              <a:alpha val="75000"/>
            </a:srgbClr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4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0002E">
              <a:alpha val="75000"/>
            </a:srgbClr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5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0002E">
              <a:alpha val="75000"/>
            </a:srgbClr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6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0002E">
              <a:alpha val="75000"/>
            </a:srgbClr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7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0002E">
              <a:alpha val="75000"/>
            </a:srgbClr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8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0002E">
              <a:alpha val="75000"/>
            </a:srgbClr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9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0002E">
              <a:alpha val="75000"/>
            </a:srgbClr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0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0002E">
              <a:alpha val="75000"/>
            </a:srgbClr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7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5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3.png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8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8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9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9.xml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22.svg"/><Relationship Id="rId3" Type="http://schemas.openxmlformats.org/officeDocument/2006/relationships/image" Target="../media/image17.png"/><Relationship Id="rId7" Type="http://schemas.openxmlformats.org/officeDocument/2006/relationships/image" Target="../media/image21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0.xml"/><Relationship Id="rId6" Type="http://schemas.openxmlformats.org/officeDocument/2006/relationships/image" Target="../media/image20.svg"/><Relationship Id="rId5" Type="http://schemas.openxmlformats.org/officeDocument/2006/relationships/image" Target="../media/image19.png"/><Relationship Id="rId4" Type="http://schemas.openxmlformats.org/officeDocument/2006/relationships/image" Target="../media/image18.svg"/><Relationship Id="rId9" Type="http://schemas.openxmlformats.org/officeDocument/2006/relationships/image" Target="../media/image6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1.xml"/><Relationship Id="rId6" Type="http://schemas.openxmlformats.org/officeDocument/2006/relationships/image" Target="../media/image25.png"/><Relationship Id="rId5" Type="http://schemas.openxmlformats.org/officeDocument/2006/relationships/image" Target="../media/image24.png"/><Relationship Id="rId4" Type="http://schemas.openxmlformats.org/officeDocument/2006/relationships/image" Target="../media/image23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6324124" y="3200281"/>
            <a:ext cx="5632490" cy="70401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00"/>
              </a:lnSpc>
              <a:buNone/>
            </a:pPr>
            <a:r>
              <a:rPr lang="en-US" sz="4400" dirty="0" err="1">
                <a:solidFill>
                  <a:srgbClr val="FFFFFF"/>
                </a:solidFill>
                <a:latin typeface="Nunito Semi Bold" pitchFamily="34" charset="0"/>
                <a:ea typeface="Nunito Semi Bold" pitchFamily="34" charset="-122"/>
                <a:cs typeface="Nunito Semi Bold" pitchFamily="34" charset="-120"/>
              </a:rPr>
              <a:t>인증</a:t>
            </a:r>
            <a:r>
              <a:rPr lang="ko-KR" altLang="en-US" sz="4400" dirty="0">
                <a:solidFill>
                  <a:srgbClr val="FFFFFF"/>
                </a:solidFill>
                <a:latin typeface="Nunito Semi Bold" pitchFamily="34" charset="0"/>
                <a:ea typeface="Nunito Semi Bold" pitchFamily="34" charset="-122"/>
                <a:cs typeface="Nunito Semi Bold" pitchFamily="34" charset="-120"/>
              </a:rPr>
              <a:t>과 </a:t>
            </a:r>
            <a:r>
              <a:rPr lang="en-US" sz="4400" dirty="0" err="1">
                <a:solidFill>
                  <a:srgbClr val="FFFFFF"/>
                </a:solidFill>
                <a:latin typeface="Nunito Semi Bold" pitchFamily="34" charset="0"/>
                <a:ea typeface="Nunito Semi Bold" pitchFamily="34" charset="-122"/>
                <a:cs typeface="Nunito Semi Bold" pitchFamily="34" charset="-120"/>
              </a:rPr>
              <a:t>인가</a:t>
            </a:r>
            <a:r>
              <a:rPr lang="en-US" sz="4400" dirty="0">
                <a:solidFill>
                  <a:srgbClr val="FFFFFF"/>
                </a:solidFill>
                <a:latin typeface="Nunito Semi Bold" pitchFamily="34" charset="0"/>
                <a:ea typeface="Nunito Semi Bold" pitchFamily="34" charset="-122"/>
                <a:cs typeface="Nunito Semi Bold" pitchFamily="34" charset="-120"/>
              </a:rPr>
              <a:t>, </a:t>
            </a:r>
            <a:r>
              <a:rPr lang="ko-KR" altLang="en-US" sz="4400" dirty="0">
                <a:solidFill>
                  <a:srgbClr val="FFFFFF"/>
                </a:solidFill>
                <a:latin typeface="Nunito Semi Bold" pitchFamily="34" charset="0"/>
                <a:ea typeface="Nunito Semi Bold" pitchFamily="34" charset="-122"/>
                <a:cs typeface="Nunito Semi Bold" pitchFamily="34" charset="-120"/>
              </a:rPr>
              <a:t>그리고</a:t>
            </a:r>
            <a:endParaRPr lang="en-US" sz="4400" dirty="0">
              <a:solidFill>
                <a:srgbClr val="FFFFFF"/>
              </a:solidFill>
              <a:latin typeface="Nunito Semi Bold" pitchFamily="34" charset="0"/>
            </a:endParaRPr>
          </a:p>
          <a:p>
            <a:pPr marL="0" indent="0" algn="l">
              <a:lnSpc>
                <a:spcPts val="5500"/>
              </a:lnSpc>
              <a:buNone/>
            </a:pPr>
            <a:r>
              <a:rPr lang="ko-KR" altLang="en-US" sz="4400" dirty="0">
                <a:solidFill>
                  <a:srgbClr val="FFFFFF"/>
                </a:solidFill>
                <a:latin typeface="Nunito Semi Bold" pitchFamily="34" charset="0"/>
              </a:rPr>
              <a:t>쿠키</a:t>
            </a:r>
            <a:r>
              <a:rPr lang="en-US" altLang="ko-KR" sz="4400" dirty="0">
                <a:solidFill>
                  <a:srgbClr val="FFFFFF"/>
                </a:solidFill>
                <a:latin typeface="Nunito Semi Bold" pitchFamily="34" charset="0"/>
              </a:rPr>
              <a:t>, </a:t>
            </a:r>
            <a:r>
              <a:rPr lang="ko-KR" altLang="en-US" sz="4400" dirty="0">
                <a:solidFill>
                  <a:srgbClr val="FFFFFF"/>
                </a:solidFill>
                <a:latin typeface="Nunito Semi Bold" pitchFamily="34" charset="0"/>
              </a:rPr>
              <a:t>세션</a:t>
            </a:r>
            <a:r>
              <a:rPr lang="en-US" altLang="ko-KR" sz="4400" dirty="0">
                <a:solidFill>
                  <a:srgbClr val="FFFFFF"/>
                </a:solidFill>
                <a:latin typeface="Nunito Semi Bold" pitchFamily="34" charset="0"/>
              </a:rPr>
              <a:t>, </a:t>
            </a:r>
            <a:r>
              <a:rPr lang="ko-KR" altLang="en-US" sz="4400" dirty="0">
                <a:solidFill>
                  <a:srgbClr val="FFFFFF"/>
                </a:solidFill>
                <a:latin typeface="Nunito Semi Bold" pitchFamily="34" charset="0"/>
              </a:rPr>
              <a:t>토큰 기반 인증</a:t>
            </a:r>
            <a:endParaRPr lang="en-US" sz="4400" dirty="0"/>
          </a:p>
        </p:txBody>
      </p:sp>
      <p:sp>
        <p:nvSpPr>
          <p:cNvPr id="4" name="Text 1"/>
          <p:cNvSpPr/>
          <p:nvPr/>
        </p:nvSpPr>
        <p:spPr>
          <a:xfrm>
            <a:off x="6234914" y="5010403"/>
            <a:ext cx="7468553" cy="766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000"/>
              </a:lnSpc>
              <a:buNone/>
            </a:pPr>
            <a:r>
              <a:rPr lang="en-US" sz="2000" dirty="0"/>
              <a:t>q</a:t>
            </a:r>
            <a:r>
              <a:rPr lang="ko-KR" altLang="en-US" sz="2000" dirty="0" err="1">
                <a:solidFill>
                  <a:schemeClr val="bg1"/>
                </a:solidFill>
              </a:rPr>
              <a:t>백엔드</a:t>
            </a:r>
            <a:r>
              <a:rPr lang="ko-KR" altLang="en-US" sz="2000" dirty="0">
                <a:solidFill>
                  <a:schemeClr val="bg1"/>
                </a:solidFill>
              </a:rPr>
              <a:t> 스터디 </a:t>
            </a:r>
            <a:r>
              <a:rPr lang="en-US" altLang="ko-KR" sz="2000" dirty="0">
                <a:solidFill>
                  <a:schemeClr val="bg1"/>
                </a:solidFill>
              </a:rPr>
              <a:t>3</a:t>
            </a:r>
            <a:r>
              <a:rPr lang="ko-KR" altLang="en-US" sz="2000" dirty="0">
                <a:solidFill>
                  <a:schemeClr val="bg1"/>
                </a:solidFill>
              </a:rPr>
              <a:t>주차</a:t>
            </a:r>
            <a:endParaRPr lang="en-US" altLang="ko-KR" sz="2000" dirty="0">
              <a:solidFill>
                <a:schemeClr val="bg1"/>
              </a:solidFill>
            </a:endParaRPr>
          </a:p>
          <a:p>
            <a:pPr marL="0" indent="0" algn="r">
              <a:lnSpc>
                <a:spcPts val="3000"/>
              </a:lnSpc>
              <a:buNone/>
            </a:pPr>
            <a:r>
              <a:rPr lang="ko-KR" altLang="en-US" sz="2000" dirty="0">
                <a:solidFill>
                  <a:schemeClr val="bg1"/>
                </a:solidFill>
              </a:rPr>
              <a:t>김재형</a:t>
            </a:r>
            <a:endParaRPr lang="en-US" sz="2000" dirty="0"/>
          </a:p>
        </p:txBody>
      </p:sp>
      <p:pic>
        <p:nvPicPr>
          <p:cNvPr id="8" name="그림 7">
            <a:extLst>
              <a:ext uri="{FF2B5EF4-FFF2-40B4-BE49-F238E27FC236}">
                <a16:creationId xmlns:a16="http://schemas.microsoft.com/office/drawing/2014/main" id="{34D7FC96-9818-30A4-57B8-097743F587D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5963245" cy="82296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498955" y="437648"/>
            <a:ext cx="5632490" cy="70401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5500"/>
              </a:lnSpc>
            </a:pPr>
            <a:r>
              <a:rPr lang="en-US" sz="4400" dirty="0" err="1">
                <a:solidFill>
                  <a:srgbClr val="FFFFFF"/>
                </a:solidFill>
                <a:latin typeface="Nunito Semi Bold" pitchFamily="34" charset="0"/>
                <a:ea typeface="Nunito Semi Bold" pitchFamily="34" charset="-122"/>
                <a:cs typeface="Nunito Semi Bold" pitchFamily="34" charset="-120"/>
              </a:rPr>
              <a:t>인증</a:t>
            </a:r>
            <a:r>
              <a:rPr lang="en-US" altLang="ko-KR" sz="4400" dirty="0">
                <a:solidFill>
                  <a:srgbClr val="FFFFFF"/>
                </a:solidFill>
                <a:latin typeface="Nunito Semi Bold" pitchFamily="34" charset="0"/>
                <a:ea typeface="Nunito Semi Bold" pitchFamily="34" charset="-122"/>
                <a:cs typeface="Nunito Semi Bold" pitchFamily="34" charset="-120"/>
              </a:rPr>
              <a:t>(Authentication)?</a:t>
            </a:r>
            <a:endParaRPr lang="en-US" sz="4400" dirty="0"/>
          </a:p>
        </p:txBody>
      </p:sp>
      <p:sp>
        <p:nvSpPr>
          <p:cNvPr id="4" name="Text 2"/>
          <p:cNvSpPr/>
          <p:nvPr/>
        </p:nvSpPr>
        <p:spPr>
          <a:xfrm>
            <a:off x="5324239" y="1429659"/>
            <a:ext cx="6185535" cy="766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000"/>
              </a:lnSpc>
              <a:buNone/>
            </a:pPr>
            <a:r>
              <a:rPr lang="en-US" sz="2000" dirty="0" err="1">
                <a:solidFill>
                  <a:srgbClr val="FFFFFF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사용자</a:t>
            </a:r>
            <a:r>
              <a:rPr lang="ko-KR" altLang="en-US" sz="2000" dirty="0">
                <a:solidFill>
                  <a:srgbClr val="FFFFFF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가 </a:t>
            </a:r>
            <a:r>
              <a:rPr lang="ko-KR" altLang="en-US" sz="2000" b="1" dirty="0">
                <a:solidFill>
                  <a:srgbClr val="FFFFFF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누구인지 확인</a:t>
            </a:r>
            <a:r>
              <a:rPr lang="ko-KR" altLang="en-US" sz="2000" dirty="0">
                <a:solidFill>
                  <a:srgbClr val="FFFFFF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하는 단계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3987251" y="1956680"/>
            <a:ext cx="7141665" cy="766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000"/>
              </a:lnSpc>
              <a:buNone/>
            </a:pPr>
            <a:r>
              <a:rPr lang="en-US" sz="2000" dirty="0">
                <a:solidFill>
                  <a:srgbClr val="FFFFFF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예시: 회사 출입증을 통해 직원임을 확인받고 건물에 들어가는 과정</a:t>
            </a:r>
            <a:endParaRPr lang="en-US" sz="2000" dirty="0"/>
          </a:p>
        </p:txBody>
      </p:sp>
      <p:pic>
        <p:nvPicPr>
          <p:cNvPr id="1028" name="Picture 4" descr="다음달부터 노래방·클럽 갈 때 카톡QR코드 찍을 수 있다 - 노컷뉴스">
            <a:extLst>
              <a:ext uri="{FF2B5EF4-FFF2-40B4-BE49-F238E27FC236}">
                <a16:creationId xmlns:a16="http://schemas.microsoft.com/office/drawing/2014/main" id="{23D6287C-6BAD-DE7D-E29E-6CDA2491704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31416" y="2899210"/>
            <a:ext cx="8567568" cy="4332052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CA73518-399D-8C53-4AB3-198512B8656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6EFE4201-7D29-1AA1-438B-575CECC42A1C}"/>
              </a:ext>
            </a:extLst>
          </p:cNvPr>
          <p:cNvSpPr/>
          <p:nvPr/>
        </p:nvSpPr>
        <p:spPr>
          <a:xfrm>
            <a:off x="4498954" y="471102"/>
            <a:ext cx="5632490" cy="70401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5500"/>
              </a:lnSpc>
            </a:pPr>
            <a:r>
              <a:rPr lang="en-US" sz="4400" dirty="0" err="1">
                <a:solidFill>
                  <a:srgbClr val="FFFFFF"/>
                </a:solidFill>
                <a:latin typeface="Nunito Semi Bold" pitchFamily="34" charset="0"/>
                <a:ea typeface="Nunito Semi Bold" pitchFamily="34" charset="-122"/>
                <a:cs typeface="Nunito Semi Bold" pitchFamily="34" charset="-120"/>
              </a:rPr>
              <a:t>인가</a:t>
            </a:r>
            <a:r>
              <a:rPr lang="en-US" altLang="ko-KR" sz="4400" dirty="0">
                <a:solidFill>
                  <a:srgbClr val="FFFFFF"/>
                </a:solidFill>
                <a:latin typeface="Nunito Semi Bold" pitchFamily="34" charset="0"/>
                <a:ea typeface="Nunito Semi Bold" pitchFamily="34" charset="-122"/>
                <a:cs typeface="Nunito Semi Bold" pitchFamily="34" charset="-120"/>
              </a:rPr>
              <a:t>(Authorization)?</a:t>
            </a:r>
            <a:endParaRPr lang="en-US" sz="4400" dirty="0"/>
          </a:p>
        </p:txBody>
      </p:sp>
      <p:sp>
        <p:nvSpPr>
          <p:cNvPr id="7" name="Text 5">
            <a:extLst>
              <a:ext uri="{FF2B5EF4-FFF2-40B4-BE49-F238E27FC236}">
                <a16:creationId xmlns:a16="http://schemas.microsoft.com/office/drawing/2014/main" id="{18EF77A3-C8A4-320F-EC79-B648D2C5019E}"/>
              </a:ext>
            </a:extLst>
          </p:cNvPr>
          <p:cNvSpPr/>
          <p:nvPr/>
        </p:nvSpPr>
        <p:spPr>
          <a:xfrm>
            <a:off x="3718171" y="1517590"/>
            <a:ext cx="8041552" cy="766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000"/>
              </a:lnSpc>
              <a:buNone/>
            </a:pPr>
            <a:r>
              <a:rPr lang="en-US" sz="2000" dirty="0">
                <a:solidFill>
                  <a:srgbClr val="FFFFFF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인증된 사용자가 </a:t>
            </a:r>
            <a:r>
              <a:rPr lang="en-US" sz="2000" b="1" dirty="0">
                <a:solidFill>
                  <a:srgbClr val="FFFFFF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특정 리소스에 접근할 권한</a:t>
            </a:r>
            <a:r>
              <a:rPr lang="en-US" sz="2000" dirty="0">
                <a:solidFill>
                  <a:srgbClr val="FFFFFF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이 </a:t>
            </a:r>
            <a:r>
              <a:rPr lang="en-US" sz="2000" dirty="0" err="1">
                <a:solidFill>
                  <a:srgbClr val="FFFFFF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있는지</a:t>
            </a:r>
            <a:r>
              <a:rPr lang="en-US" sz="2000" dirty="0">
                <a:solidFill>
                  <a:srgbClr val="FFFFFF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 확</a:t>
            </a:r>
            <a:r>
              <a:rPr lang="ko-KR" altLang="en-US" sz="2000" dirty="0">
                <a:solidFill>
                  <a:srgbClr val="FFFFFF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인하는 것</a:t>
            </a:r>
            <a:endParaRPr lang="en-US" sz="2000" dirty="0"/>
          </a:p>
        </p:txBody>
      </p:sp>
      <p:sp>
        <p:nvSpPr>
          <p:cNvPr id="8" name="Text 6">
            <a:extLst>
              <a:ext uri="{FF2B5EF4-FFF2-40B4-BE49-F238E27FC236}">
                <a16:creationId xmlns:a16="http://schemas.microsoft.com/office/drawing/2014/main" id="{095E7DE5-EB6B-080C-2947-7735AD8E18B1}"/>
              </a:ext>
            </a:extLst>
          </p:cNvPr>
          <p:cNvSpPr/>
          <p:nvPr/>
        </p:nvSpPr>
        <p:spPr>
          <a:xfrm>
            <a:off x="3806205" y="2092126"/>
            <a:ext cx="6185535" cy="3830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000"/>
              </a:lnSpc>
              <a:buNone/>
            </a:pPr>
            <a:r>
              <a:rPr lang="en-US" sz="2000" dirty="0">
                <a:solidFill>
                  <a:srgbClr val="FFFFFF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예시: 일반 직원은 팀장이나 사장의 개인 문서를 열람할 수 없음</a:t>
            </a:r>
            <a:endParaRPr lang="en-US" sz="2000" dirty="0"/>
          </a:p>
        </p:txBody>
      </p:sp>
      <p:pic>
        <p:nvPicPr>
          <p:cNvPr id="13" name="그림 12">
            <a:extLst>
              <a:ext uri="{FF2B5EF4-FFF2-40B4-BE49-F238E27FC236}">
                <a16:creationId xmlns:a16="http://schemas.microsoft.com/office/drawing/2014/main" id="{597A7229-1D58-190C-05DA-53C7C851F58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82665" y="3049686"/>
            <a:ext cx="10478661" cy="3805237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</p:spTree>
    <p:extLst>
      <p:ext uri="{BB962C8B-B14F-4D97-AF65-F5344CB8AC3E}">
        <p14:creationId xmlns:p14="http://schemas.microsoft.com/office/powerpoint/2010/main" val="123661581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33B8B4E-6193-A75E-C8FB-E3324F431B9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1290D1CE-1EB7-D264-BF04-6DA0F874112B}"/>
              </a:ext>
            </a:extLst>
          </p:cNvPr>
          <p:cNvSpPr/>
          <p:nvPr/>
        </p:nvSpPr>
        <p:spPr>
          <a:xfrm>
            <a:off x="5312933" y="261979"/>
            <a:ext cx="4543053" cy="70401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00"/>
              </a:lnSpc>
              <a:buNone/>
            </a:pPr>
            <a:r>
              <a:rPr lang="en-US" sz="4400" dirty="0">
                <a:solidFill>
                  <a:srgbClr val="FFFFFF"/>
                </a:solidFill>
                <a:latin typeface="Nunito Semi Bold" pitchFamily="34" charset="0"/>
                <a:ea typeface="Nunito Semi Bold" pitchFamily="34" charset="-122"/>
                <a:cs typeface="Nunito Semi Bold" pitchFamily="34" charset="-120"/>
              </a:rPr>
              <a:t>인증과 인가의 차이</a:t>
            </a:r>
            <a:endParaRPr lang="en-US" sz="4400" dirty="0"/>
          </a:p>
        </p:txBody>
      </p:sp>
      <p:sp>
        <p:nvSpPr>
          <p:cNvPr id="9" name="Shape 7">
            <a:extLst>
              <a:ext uri="{FF2B5EF4-FFF2-40B4-BE49-F238E27FC236}">
                <a16:creationId xmlns:a16="http://schemas.microsoft.com/office/drawing/2014/main" id="{82F26803-9D8D-080D-A968-E360E495751C}"/>
              </a:ext>
            </a:extLst>
          </p:cNvPr>
          <p:cNvSpPr/>
          <p:nvPr/>
        </p:nvSpPr>
        <p:spPr>
          <a:xfrm>
            <a:off x="837724" y="6307455"/>
            <a:ext cx="12954952" cy="1017151"/>
          </a:xfrm>
          <a:prstGeom prst="roundRect">
            <a:avLst>
              <a:gd name="adj" fmla="val 35302"/>
            </a:avLst>
          </a:prstGeom>
          <a:solidFill>
            <a:srgbClr val="483304"/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10" name="Image 0" descr="preencoded.png">
            <a:extLst>
              <a:ext uri="{FF2B5EF4-FFF2-40B4-BE49-F238E27FC236}">
                <a16:creationId xmlns:a16="http://schemas.microsoft.com/office/drawing/2014/main" id="{06BC4034-765E-BE8D-6E6B-8C3596C36CF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7039" y="6671429"/>
            <a:ext cx="299204" cy="239316"/>
          </a:xfrm>
          <a:prstGeom prst="rect">
            <a:avLst/>
          </a:prstGeom>
        </p:spPr>
      </p:pic>
      <p:sp>
        <p:nvSpPr>
          <p:cNvPr id="11" name="Text 8">
            <a:extLst>
              <a:ext uri="{FF2B5EF4-FFF2-40B4-BE49-F238E27FC236}">
                <a16:creationId xmlns:a16="http://schemas.microsoft.com/office/drawing/2014/main" id="{3CE5DBCE-B3A6-4442-CE53-5E1DC66565AE}"/>
              </a:ext>
            </a:extLst>
          </p:cNvPr>
          <p:cNvSpPr/>
          <p:nvPr/>
        </p:nvSpPr>
        <p:spPr>
          <a:xfrm>
            <a:off x="1615559" y="6606540"/>
            <a:ext cx="11937802" cy="3830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000"/>
              </a:lnSpc>
              <a:buNone/>
            </a:pPr>
            <a:r>
              <a:rPr lang="en-US" sz="1850" dirty="0">
                <a:solidFill>
                  <a:srgbClr val="FFFFFF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인가를 위해서는 반드시 인증이 선행되어야 합니다. 인증되지 않은 사용자에게는 권한을 부여하지 않습니다.</a:t>
            </a:r>
            <a:endParaRPr lang="en-US" sz="1850" dirty="0"/>
          </a:p>
        </p:txBody>
      </p:sp>
      <p:pic>
        <p:nvPicPr>
          <p:cNvPr id="13" name="그림 12">
            <a:extLst>
              <a:ext uri="{FF2B5EF4-FFF2-40B4-BE49-F238E27FC236}">
                <a16:creationId xmlns:a16="http://schemas.microsoft.com/office/drawing/2014/main" id="{B18358EA-40DA-C053-EB4C-27A599B6A7A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470134" y="2209654"/>
            <a:ext cx="9690132" cy="3810292"/>
          </a:xfrm>
          <a:prstGeom prst="rect">
            <a:avLst/>
          </a:prstGeom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4FDA3C1B-25D1-893B-9206-FFB7EB7E110A}"/>
              </a:ext>
            </a:extLst>
          </p:cNvPr>
          <p:cNvSpPr txBox="1"/>
          <p:nvPr/>
        </p:nvSpPr>
        <p:spPr>
          <a:xfrm>
            <a:off x="2540786" y="1175468"/>
            <a:ext cx="7315200" cy="82471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algn="l">
              <a:lnSpc>
                <a:spcPts val="3000"/>
              </a:lnSpc>
              <a:buNone/>
            </a:pPr>
            <a:r>
              <a:rPr lang="ko-KR" altLang="en-US" sz="2000" b="1" dirty="0">
                <a:solidFill>
                  <a:srgbClr val="FFFFFF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인증은 </a:t>
            </a:r>
            <a:r>
              <a:rPr lang="en-US" altLang="ko-KR" sz="2000" b="1" dirty="0" err="1">
                <a:solidFill>
                  <a:srgbClr val="FFFFFF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누구인지</a:t>
            </a:r>
            <a:r>
              <a:rPr lang="en-US" altLang="ko-KR" sz="2000" dirty="0">
                <a:solidFill>
                  <a:srgbClr val="FFFFFF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 </a:t>
            </a:r>
            <a:r>
              <a:rPr lang="en-US" altLang="ko-KR" sz="2000" dirty="0" err="1">
                <a:solidFill>
                  <a:srgbClr val="FFFFFF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확인하는</a:t>
            </a:r>
            <a:r>
              <a:rPr lang="en-US" altLang="ko-KR" sz="2000" dirty="0">
                <a:solidFill>
                  <a:srgbClr val="FFFFFF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 </a:t>
            </a:r>
            <a:r>
              <a:rPr lang="en-US" altLang="ko-KR" sz="2000" dirty="0" err="1">
                <a:solidFill>
                  <a:srgbClr val="FFFFFF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절차</a:t>
            </a:r>
            <a:r>
              <a:rPr lang="en-US" altLang="ko-KR" sz="2000" dirty="0">
                <a:solidFill>
                  <a:srgbClr val="FFFFFF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!</a:t>
            </a:r>
          </a:p>
          <a:p>
            <a:pPr>
              <a:lnSpc>
                <a:spcPts val="3000"/>
              </a:lnSpc>
            </a:pPr>
            <a:r>
              <a:rPr lang="ko-KR" altLang="en-US" sz="2000" b="1" dirty="0">
                <a:solidFill>
                  <a:srgbClr val="FFFFFF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인가</a:t>
            </a:r>
            <a:r>
              <a:rPr lang="ko-KR" altLang="en-US" sz="2000" dirty="0">
                <a:solidFill>
                  <a:srgbClr val="FFFFFF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는 </a:t>
            </a:r>
            <a:r>
              <a:rPr lang="en-US" altLang="ko-KR" sz="2000" b="1" dirty="0" err="1">
                <a:solidFill>
                  <a:srgbClr val="FFFFFF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특정</a:t>
            </a:r>
            <a:r>
              <a:rPr lang="en-US" altLang="ko-KR" sz="2000" b="1" dirty="0">
                <a:solidFill>
                  <a:srgbClr val="FFFFFF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 </a:t>
            </a:r>
            <a:r>
              <a:rPr lang="en-US" altLang="ko-KR" sz="2000" b="1" dirty="0" err="1">
                <a:solidFill>
                  <a:srgbClr val="FFFFFF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리소스에</a:t>
            </a:r>
            <a:r>
              <a:rPr lang="en-US" altLang="ko-KR" sz="2000" b="1" dirty="0">
                <a:solidFill>
                  <a:srgbClr val="FFFFFF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 </a:t>
            </a:r>
            <a:r>
              <a:rPr lang="en-US" altLang="ko-KR" sz="2000" b="1" dirty="0" err="1">
                <a:solidFill>
                  <a:srgbClr val="FFFFFF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접근할</a:t>
            </a:r>
            <a:r>
              <a:rPr lang="en-US" altLang="ko-KR" sz="2000" b="1" dirty="0">
                <a:solidFill>
                  <a:srgbClr val="FFFFFF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 </a:t>
            </a:r>
            <a:r>
              <a:rPr lang="en-US" altLang="ko-KR" sz="2000" b="1" dirty="0" err="1">
                <a:solidFill>
                  <a:srgbClr val="FFFFFF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권한</a:t>
            </a:r>
            <a:r>
              <a:rPr lang="en-US" altLang="ko-KR" sz="2000" dirty="0" err="1">
                <a:solidFill>
                  <a:srgbClr val="FFFFFF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이</a:t>
            </a:r>
            <a:r>
              <a:rPr lang="en-US" altLang="ko-KR" sz="2000" dirty="0">
                <a:solidFill>
                  <a:srgbClr val="FFFFFF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 </a:t>
            </a:r>
            <a:r>
              <a:rPr lang="en-US" altLang="ko-KR" sz="2000" dirty="0" err="1">
                <a:solidFill>
                  <a:srgbClr val="FFFFFF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있는지</a:t>
            </a:r>
            <a:r>
              <a:rPr lang="en-US" altLang="ko-KR" sz="2000" dirty="0">
                <a:solidFill>
                  <a:srgbClr val="FFFFFF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 </a:t>
            </a:r>
            <a:r>
              <a:rPr lang="en-US" altLang="ko-KR" sz="2000" dirty="0" err="1">
                <a:solidFill>
                  <a:srgbClr val="FFFFFF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확인하는</a:t>
            </a:r>
            <a:r>
              <a:rPr lang="en-US" altLang="ko-KR" sz="2000" dirty="0">
                <a:solidFill>
                  <a:srgbClr val="FFFFFF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 </a:t>
            </a:r>
            <a:r>
              <a:rPr lang="en-US" altLang="ko-KR" sz="2000" dirty="0" err="1">
                <a:solidFill>
                  <a:srgbClr val="FFFFFF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절차</a:t>
            </a:r>
            <a:r>
              <a:rPr lang="en-US" altLang="ko-KR" sz="2000" dirty="0">
                <a:solidFill>
                  <a:srgbClr val="FFFFFF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!</a:t>
            </a:r>
          </a:p>
        </p:txBody>
      </p:sp>
    </p:spTree>
    <p:extLst>
      <p:ext uri="{BB962C8B-B14F-4D97-AF65-F5344CB8AC3E}">
        <p14:creationId xmlns:p14="http://schemas.microsoft.com/office/powerpoint/2010/main" val="123071331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558944" y="357562"/>
            <a:ext cx="7324968" cy="70401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00"/>
              </a:lnSpc>
              <a:buNone/>
            </a:pPr>
            <a:r>
              <a:rPr lang="ko-KR" altLang="en-US" sz="4400" dirty="0">
                <a:solidFill>
                  <a:srgbClr val="FFFFFF"/>
                </a:solidFill>
                <a:latin typeface="Nunito Semi Bold" pitchFamily="34" charset="0"/>
              </a:rPr>
              <a:t>사전지식 </a:t>
            </a:r>
            <a:r>
              <a:rPr lang="en-US" altLang="ko-KR" sz="4400" dirty="0">
                <a:solidFill>
                  <a:srgbClr val="FFFFFF"/>
                </a:solidFill>
                <a:latin typeface="Nunito Semi Bold" pitchFamily="34" charset="0"/>
              </a:rPr>
              <a:t>– HTTP</a:t>
            </a:r>
            <a:r>
              <a:rPr lang="ko-KR" altLang="en-US" sz="4400" dirty="0">
                <a:solidFill>
                  <a:srgbClr val="FFFFFF"/>
                </a:solidFill>
                <a:latin typeface="Nunito Semi Bold" pitchFamily="34" charset="0"/>
              </a:rPr>
              <a:t>의 </a:t>
            </a:r>
            <a:r>
              <a:rPr lang="en-US" altLang="ko-KR" sz="4400" dirty="0">
                <a:solidFill>
                  <a:srgbClr val="FFFFFF"/>
                </a:solidFill>
                <a:latin typeface="Nunito Semi Bold" pitchFamily="34" charset="0"/>
              </a:rPr>
              <a:t>Stateless</a:t>
            </a:r>
            <a:endParaRPr lang="en-US" sz="4400" dirty="0"/>
          </a:p>
        </p:txBody>
      </p:sp>
      <p:sp>
        <p:nvSpPr>
          <p:cNvPr id="4" name="Shape 1"/>
          <p:cNvSpPr/>
          <p:nvPr/>
        </p:nvSpPr>
        <p:spPr>
          <a:xfrm>
            <a:off x="558944" y="1420552"/>
            <a:ext cx="538520" cy="538520"/>
          </a:xfrm>
          <a:prstGeom prst="roundRect">
            <a:avLst>
              <a:gd name="adj" fmla="val 66677"/>
            </a:avLst>
          </a:prstGeom>
          <a:solidFill>
            <a:srgbClr val="00002E"/>
          </a:solidFill>
          <a:ln w="22860">
            <a:solidFill>
              <a:srgbClr val="F2B42D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" name="Text 2"/>
          <p:cNvSpPr/>
          <p:nvPr/>
        </p:nvSpPr>
        <p:spPr>
          <a:xfrm>
            <a:off x="1336779" y="1502824"/>
            <a:ext cx="2816185" cy="3519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Nunito Semi Bold" pitchFamily="34" charset="0"/>
              </a:rPr>
              <a:t>연결 유지 불가</a:t>
            </a:r>
            <a:endParaRPr lang="en-US" sz="2200" b="1" dirty="0"/>
          </a:p>
        </p:txBody>
      </p:sp>
      <p:sp>
        <p:nvSpPr>
          <p:cNvPr id="6" name="Text 3"/>
          <p:cNvSpPr/>
          <p:nvPr/>
        </p:nvSpPr>
        <p:spPr>
          <a:xfrm>
            <a:off x="1336779" y="1998362"/>
            <a:ext cx="3341013" cy="11490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000"/>
              </a:lnSpc>
              <a:buNone/>
            </a:pPr>
            <a:r>
              <a:rPr lang="en-US" sz="1850" dirty="0">
                <a:solidFill>
                  <a:srgbClr val="FFFFFF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HTTP</a:t>
            </a:r>
            <a:r>
              <a:rPr lang="ko-KR" altLang="en-US" sz="1850" dirty="0">
                <a:solidFill>
                  <a:srgbClr val="FFFFFF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는 한번 연결이 일어난 후엔 연결이 끊어지는 </a:t>
            </a:r>
            <a:r>
              <a:rPr lang="en-US" altLang="ko-KR" sz="1850" dirty="0" err="1">
                <a:solidFill>
                  <a:srgbClr val="FFFFFF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connectless</a:t>
            </a:r>
            <a:r>
              <a:rPr lang="en-US" altLang="ko-KR" sz="1850" dirty="0">
                <a:solidFill>
                  <a:srgbClr val="FFFFFF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 </a:t>
            </a:r>
            <a:r>
              <a:rPr lang="ko-KR" altLang="en-US" sz="1850" dirty="0">
                <a:solidFill>
                  <a:srgbClr val="FFFFFF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특성을</a:t>
            </a:r>
            <a:r>
              <a:rPr lang="en-US" sz="1850" dirty="0">
                <a:solidFill>
                  <a:srgbClr val="FFFFFF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 가</a:t>
            </a:r>
            <a:r>
              <a:rPr lang="ko-KR" altLang="en-US" sz="1850" dirty="0">
                <a:solidFill>
                  <a:srgbClr val="FFFFFF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집니다</a:t>
            </a:r>
            <a:r>
              <a:rPr lang="en-US" altLang="ko-KR" sz="1850" dirty="0">
                <a:solidFill>
                  <a:srgbClr val="FFFFFF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.</a:t>
            </a:r>
            <a:endParaRPr lang="en-US" sz="1850" dirty="0"/>
          </a:p>
        </p:txBody>
      </p:sp>
      <p:sp>
        <p:nvSpPr>
          <p:cNvPr id="7" name="Shape 4"/>
          <p:cNvSpPr/>
          <p:nvPr/>
        </p:nvSpPr>
        <p:spPr>
          <a:xfrm>
            <a:off x="4976996" y="1420552"/>
            <a:ext cx="538520" cy="538520"/>
          </a:xfrm>
          <a:prstGeom prst="roundRect">
            <a:avLst>
              <a:gd name="adj" fmla="val 66677"/>
            </a:avLst>
          </a:prstGeom>
          <a:solidFill>
            <a:srgbClr val="00002E"/>
          </a:solidFill>
          <a:ln w="22860">
            <a:solidFill>
              <a:srgbClr val="D7425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" name="Text 5"/>
          <p:cNvSpPr/>
          <p:nvPr/>
        </p:nvSpPr>
        <p:spPr>
          <a:xfrm>
            <a:off x="5754831" y="1502824"/>
            <a:ext cx="2816185" cy="3519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2750"/>
              </a:lnSpc>
            </a:pPr>
            <a:r>
              <a:rPr lang="en-US" altLang="ko-KR" sz="2200" b="1" dirty="0" err="1">
                <a:solidFill>
                  <a:srgbClr val="FFFFFF"/>
                </a:solidFill>
                <a:latin typeface="Nunito Semi Bold" pitchFamily="34" charset="0"/>
                <a:ea typeface="Nunito Semi Bold" pitchFamily="34" charset="-122"/>
                <a:cs typeface="Nunito Semi Bold" pitchFamily="34" charset="-120"/>
              </a:rPr>
              <a:t>상태</a:t>
            </a:r>
            <a:r>
              <a:rPr lang="en-US" altLang="ko-KR" sz="2200" b="1" dirty="0">
                <a:solidFill>
                  <a:srgbClr val="FFFFFF"/>
                </a:solidFill>
                <a:latin typeface="Nunito Semi Bold" pitchFamily="34" charset="0"/>
                <a:ea typeface="Nunito Semi Bold" pitchFamily="34" charset="-122"/>
                <a:cs typeface="Nunito Semi Bold" pitchFamily="34" charset="-120"/>
              </a:rPr>
              <a:t> </a:t>
            </a:r>
            <a:r>
              <a:rPr lang="en-US" altLang="ko-KR" sz="2200" b="1" dirty="0" err="1">
                <a:solidFill>
                  <a:srgbClr val="FFFFFF"/>
                </a:solidFill>
                <a:latin typeface="Nunito Semi Bold" pitchFamily="34" charset="0"/>
                <a:ea typeface="Nunito Semi Bold" pitchFamily="34" charset="-122"/>
                <a:cs typeface="Nunito Semi Bold" pitchFamily="34" charset="-120"/>
              </a:rPr>
              <a:t>유지</a:t>
            </a:r>
            <a:r>
              <a:rPr lang="en-US" altLang="ko-KR" sz="2200" b="1" dirty="0">
                <a:solidFill>
                  <a:srgbClr val="FFFFFF"/>
                </a:solidFill>
                <a:latin typeface="Nunito Semi Bold" pitchFamily="34" charset="0"/>
                <a:ea typeface="Nunito Semi Bold" pitchFamily="34" charset="-122"/>
                <a:cs typeface="Nunito Semi Bold" pitchFamily="34" charset="-120"/>
              </a:rPr>
              <a:t> </a:t>
            </a:r>
            <a:r>
              <a:rPr lang="en-US" altLang="ko-KR" sz="2200" b="1" dirty="0" err="1">
                <a:solidFill>
                  <a:srgbClr val="FFFFFF"/>
                </a:solidFill>
                <a:latin typeface="Nunito Semi Bold" pitchFamily="34" charset="0"/>
                <a:ea typeface="Nunito Semi Bold" pitchFamily="34" charset="-122"/>
                <a:cs typeface="Nunito Semi Bold" pitchFamily="34" charset="-120"/>
              </a:rPr>
              <a:t>불가</a:t>
            </a:r>
            <a:endParaRPr lang="en-US" altLang="ko-KR" sz="2200" b="1" dirty="0"/>
          </a:p>
        </p:txBody>
      </p:sp>
      <p:sp>
        <p:nvSpPr>
          <p:cNvPr id="9" name="Text 6"/>
          <p:cNvSpPr/>
          <p:nvPr/>
        </p:nvSpPr>
        <p:spPr>
          <a:xfrm>
            <a:off x="5754831" y="1998362"/>
            <a:ext cx="3341013" cy="11490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3000"/>
              </a:lnSpc>
            </a:pPr>
            <a:r>
              <a:rPr lang="en-US" altLang="ko-KR" sz="1850" dirty="0" err="1">
                <a:solidFill>
                  <a:srgbClr val="FFFFFF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HTTP는</a:t>
            </a:r>
            <a:r>
              <a:rPr lang="en-US" altLang="ko-KR" sz="1850" dirty="0">
                <a:solidFill>
                  <a:srgbClr val="FFFFFF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 각 </a:t>
            </a:r>
            <a:r>
              <a:rPr lang="en-US" altLang="ko-KR" sz="1850" dirty="0" err="1">
                <a:solidFill>
                  <a:srgbClr val="FFFFFF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통신의</a:t>
            </a:r>
            <a:r>
              <a:rPr lang="en-US" altLang="ko-KR" sz="1850" dirty="0">
                <a:solidFill>
                  <a:srgbClr val="FFFFFF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 </a:t>
            </a:r>
            <a:r>
              <a:rPr lang="en-US" altLang="ko-KR" sz="1850" dirty="0" err="1">
                <a:solidFill>
                  <a:srgbClr val="FFFFFF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상태가</a:t>
            </a:r>
            <a:r>
              <a:rPr lang="en-US" altLang="ko-KR" sz="1850" dirty="0">
                <a:solidFill>
                  <a:srgbClr val="FFFFFF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 </a:t>
            </a:r>
            <a:r>
              <a:rPr lang="en-US" altLang="ko-KR" sz="1850" dirty="0" err="1">
                <a:solidFill>
                  <a:srgbClr val="FFFFFF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저장되지</a:t>
            </a:r>
            <a:r>
              <a:rPr lang="en-US" altLang="ko-KR" sz="1850" dirty="0">
                <a:solidFill>
                  <a:srgbClr val="FFFFFF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 않</a:t>
            </a:r>
            <a:r>
              <a:rPr lang="ko-KR" altLang="en-US" sz="1850" dirty="0">
                <a:solidFill>
                  <a:srgbClr val="FFFFFF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는 </a:t>
            </a:r>
            <a:r>
              <a:rPr lang="en-US" altLang="ko-KR" sz="1850" dirty="0">
                <a:solidFill>
                  <a:srgbClr val="FFFFFF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stateless </a:t>
            </a:r>
            <a:r>
              <a:rPr lang="en-US" altLang="ko-KR" sz="1850" dirty="0" err="1">
                <a:solidFill>
                  <a:srgbClr val="FFFFFF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특성을</a:t>
            </a:r>
            <a:r>
              <a:rPr lang="en-US" altLang="ko-KR" sz="1850" dirty="0">
                <a:solidFill>
                  <a:srgbClr val="FFFFFF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 가</a:t>
            </a:r>
            <a:r>
              <a:rPr lang="ko-KR" altLang="en-US" sz="1850" dirty="0">
                <a:solidFill>
                  <a:srgbClr val="FFFFFF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집니다</a:t>
            </a:r>
            <a:r>
              <a:rPr lang="en-US" altLang="ko-KR" sz="1850" dirty="0">
                <a:solidFill>
                  <a:srgbClr val="FFFFFF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.</a:t>
            </a:r>
            <a:endParaRPr lang="en-US" altLang="ko-KR" sz="1850" dirty="0"/>
          </a:p>
        </p:txBody>
      </p:sp>
      <p:sp>
        <p:nvSpPr>
          <p:cNvPr id="10" name="Shape 7"/>
          <p:cNvSpPr/>
          <p:nvPr/>
        </p:nvSpPr>
        <p:spPr>
          <a:xfrm>
            <a:off x="9395048" y="1420552"/>
            <a:ext cx="538520" cy="538520"/>
          </a:xfrm>
          <a:prstGeom prst="roundRect">
            <a:avLst>
              <a:gd name="adj" fmla="val 66677"/>
            </a:avLst>
          </a:prstGeom>
          <a:solidFill>
            <a:srgbClr val="00002E"/>
          </a:solidFill>
          <a:ln w="22860">
            <a:solidFill>
              <a:srgbClr val="DD785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1" name="Text 8"/>
          <p:cNvSpPr/>
          <p:nvPr/>
        </p:nvSpPr>
        <p:spPr>
          <a:xfrm>
            <a:off x="10172883" y="1502824"/>
            <a:ext cx="2816185" cy="3519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FFFFFF"/>
                </a:solidFill>
                <a:latin typeface="Nunito Semi Bold" pitchFamily="34" charset="0"/>
                <a:ea typeface="Nunito Semi Bold" pitchFamily="34" charset="-122"/>
                <a:cs typeface="Nunito Semi Bold" pitchFamily="34" charset="-120"/>
              </a:rPr>
              <a:t>인증 방식의 필요성</a:t>
            </a:r>
            <a:endParaRPr lang="en-US" sz="2200" b="1" dirty="0"/>
          </a:p>
        </p:txBody>
      </p:sp>
      <p:sp>
        <p:nvSpPr>
          <p:cNvPr id="12" name="Text 9"/>
          <p:cNvSpPr/>
          <p:nvPr/>
        </p:nvSpPr>
        <p:spPr>
          <a:xfrm>
            <a:off x="10172883" y="1998362"/>
            <a:ext cx="3665780" cy="11490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000"/>
              </a:lnSpc>
              <a:buNone/>
            </a:pPr>
            <a:r>
              <a:rPr lang="ko-KR" altLang="en-US" sz="1850" dirty="0">
                <a:solidFill>
                  <a:srgbClr val="FFFFFF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따라서</a:t>
            </a:r>
            <a:r>
              <a:rPr lang="en-US" altLang="ko-KR" sz="1850" dirty="0">
                <a:solidFill>
                  <a:srgbClr val="FFFFFF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, </a:t>
            </a:r>
            <a:r>
              <a:rPr lang="en-US" sz="1850" dirty="0" err="1">
                <a:solidFill>
                  <a:srgbClr val="FFFFFF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사용자의</a:t>
            </a:r>
            <a:r>
              <a:rPr lang="en-US" sz="1850" dirty="0">
                <a:solidFill>
                  <a:srgbClr val="FFFFFF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 로그인 상태를 지속적으로 유지하기 위해 쿠키, 세션, 토큰 등의 인증 방식이 필요합니다</a:t>
            </a:r>
            <a:endParaRPr lang="en-US" sz="1850" dirty="0"/>
          </a:p>
        </p:txBody>
      </p:sp>
      <p:pic>
        <p:nvPicPr>
          <p:cNvPr id="2052" name="Picture 4">
            <a:extLst>
              <a:ext uri="{FF2B5EF4-FFF2-40B4-BE49-F238E27FC236}">
                <a16:creationId xmlns:a16="http://schemas.microsoft.com/office/drawing/2014/main" id="{85F02B49-FAFF-3670-1721-0676E85B32F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45205" y="3603257"/>
            <a:ext cx="10235436" cy="392036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474720" y="423505"/>
            <a:ext cx="5632490" cy="70401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00"/>
              </a:lnSpc>
              <a:buNone/>
            </a:pPr>
            <a:r>
              <a:rPr lang="en-US" sz="4400" dirty="0" err="1">
                <a:solidFill>
                  <a:srgbClr val="FFFFFF"/>
                </a:solidFill>
                <a:latin typeface="Nunito Semi Bold" pitchFamily="34" charset="0"/>
                <a:ea typeface="Nunito Semi Bold" pitchFamily="34" charset="-122"/>
                <a:cs typeface="Nunito Semi Bold" pitchFamily="34" charset="-120"/>
              </a:rPr>
              <a:t>쿠키</a:t>
            </a:r>
            <a:r>
              <a:rPr lang="en-US" sz="4400" dirty="0">
                <a:solidFill>
                  <a:srgbClr val="FFFFFF"/>
                </a:solidFill>
                <a:latin typeface="Nunito Semi Bold" pitchFamily="34" charset="0"/>
                <a:ea typeface="Nunito Semi Bold" pitchFamily="34" charset="-122"/>
                <a:cs typeface="Nunito Semi Bold" pitchFamily="34" charset="-120"/>
              </a:rPr>
              <a:t>(Cookie) 기반 인증</a:t>
            </a:r>
            <a:endParaRPr lang="en-US" sz="4400" dirty="0"/>
          </a:p>
        </p:txBody>
      </p:sp>
      <p:sp>
        <p:nvSpPr>
          <p:cNvPr id="4" name="Text 1"/>
          <p:cNvSpPr/>
          <p:nvPr/>
        </p:nvSpPr>
        <p:spPr>
          <a:xfrm>
            <a:off x="474720" y="1376754"/>
            <a:ext cx="9343339" cy="766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000"/>
              </a:lnSpc>
              <a:buNone/>
            </a:pPr>
            <a:r>
              <a:rPr lang="en-US" sz="1850" dirty="0">
                <a:solidFill>
                  <a:srgbClr val="FFFFFF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쿠키는 </a:t>
            </a:r>
            <a:r>
              <a:rPr lang="en-US" sz="1850" b="1" dirty="0">
                <a:solidFill>
                  <a:srgbClr val="FFFFFF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브라우저에 저장되는 정보</a:t>
            </a:r>
            <a:r>
              <a:rPr lang="en-US" sz="1850" dirty="0">
                <a:solidFill>
                  <a:srgbClr val="FFFFFF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로, 서버와 클라이언트 간 상태를 유지하는 가장 </a:t>
            </a:r>
            <a:r>
              <a:rPr lang="en-US" sz="1850" dirty="0" err="1">
                <a:solidFill>
                  <a:srgbClr val="FFFFFF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기본적인</a:t>
            </a:r>
            <a:r>
              <a:rPr lang="en-US" sz="1850" dirty="0">
                <a:solidFill>
                  <a:srgbClr val="FFFFFF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 </a:t>
            </a:r>
            <a:r>
              <a:rPr lang="en-US" sz="1850" dirty="0" err="1">
                <a:solidFill>
                  <a:srgbClr val="FFFFFF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방식</a:t>
            </a:r>
            <a:r>
              <a:rPr lang="en-US" sz="1850" dirty="0">
                <a:solidFill>
                  <a:srgbClr val="FFFFFF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!</a:t>
            </a:r>
            <a:endParaRPr lang="en-US" sz="1850" dirty="0"/>
          </a:p>
        </p:txBody>
      </p:sp>
      <p:sp>
        <p:nvSpPr>
          <p:cNvPr id="5" name="Text 2"/>
          <p:cNvSpPr/>
          <p:nvPr/>
        </p:nvSpPr>
        <p:spPr>
          <a:xfrm>
            <a:off x="445967" y="1954527"/>
            <a:ext cx="239316" cy="29920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000"/>
              </a:lnSpc>
              <a:buNone/>
            </a:pPr>
            <a:r>
              <a:rPr lang="en-US" sz="1850" dirty="0">
                <a:solidFill>
                  <a:srgbClr val="FFFFFF"/>
                </a:solidFill>
                <a:latin typeface="Nunito Light" pitchFamily="34" charset="0"/>
                <a:ea typeface="Nunito Light" pitchFamily="34" charset="-122"/>
                <a:cs typeface="Nunito Light" pitchFamily="34" charset="-120"/>
              </a:rPr>
              <a:t>01</a:t>
            </a:r>
            <a:endParaRPr lang="en-US" sz="1850" dirty="0"/>
          </a:p>
        </p:txBody>
      </p:sp>
      <p:sp>
        <p:nvSpPr>
          <p:cNvPr id="6" name="Shape 3"/>
          <p:cNvSpPr/>
          <p:nvPr/>
        </p:nvSpPr>
        <p:spPr>
          <a:xfrm>
            <a:off x="445967" y="2330884"/>
            <a:ext cx="3614618" cy="30480"/>
          </a:xfrm>
          <a:prstGeom prst="rect">
            <a:avLst/>
          </a:prstGeom>
          <a:solidFill>
            <a:srgbClr val="F2B42D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7" name="Text 4"/>
          <p:cNvSpPr/>
          <p:nvPr/>
        </p:nvSpPr>
        <p:spPr>
          <a:xfrm>
            <a:off x="845182" y="1978935"/>
            <a:ext cx="2816185" cy="3519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FFFFFF"/>
                </a:solidFill>
                <a:latin typeface="Nunito Semi Bold" pitchFamily="34" charset="0"/>
                <a:ea typeface="Nunito Semi Bold" pitchFamily="34" charset="-122"/>
                <a:cs typeface="Nunito Semi Bold" pitchFamily="34" charset="-120"/>
              </a:rPr>
              <a:t>로그인 요청</a:t>
            </a:r>
            <a:endParaRPr lang="en-US" sz="2200" dirty="0"/>
          </a:p>
        </p:txBody>
      </p:sp>
      <p:sp>
        <p:nvSpPr>
          <p:cNvPr id="8" name="Text 5"/>
          <p:cNvSpPr/>
          <p:nvPr/>
        </p:nvSpPr>
        <p:spPr>
          <a:xfrm>
            <a:off x="445967" y="2448481"/>
            <a:ext cx="3614618" cy="766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000"/>
              </a:lnSpc>
              <a:buNone/>
            </a:pPr>
            <a:r>
              <a:rPr lang="en-US" sz="1850" dirty="0">
                <a:solidFill>
                  <a:srgbClr val="FFFFFF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클라이언트가 서버에 첫 로그인 인증 요청을 보냅니다</a:t>
            </a:r>
            <a:endParaRPr lang="en-US" sz="1850" dirty="0"/>
          </a:p>
        </p:txBody>
      </p:sp>
      <p:sp>
        <p:nvSpPr>
          <p:cNvPr id="9" name="Text 6"/>
          <p:cNvSpPr/>
          <p:nvPr/>
        </p:nvSpPr>
        <p:spPr>
          <a:xfrm>
            <a:off x="4299901" y="1954527"/>
            <a:ext cx="239316" cy="29920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000"/>
              </a:lnSpc>
              <a:buNone/>
            </a:pPr>
            <a:r>
              <a:rPr lang="en-US" sz="1850" dirty="0">
                <a:solidFill>
                  <a:srgbClr val="FFFFFF"/>
                </a:solidFill>
                <a:latin typeface="Nunito Light" pitchFamily="34" charset="0"/>
                <a:ea typeface="Nunito Light" pitchFamily="34" charset="-122"/>
                <a:cs typeface="Nunito Light" pitchFamily="34" charset="-120"/>
              </a:rPr>
              <a:t>02</a:t>
            </a:r>
            <a:endParaRPr lang="en-US" sz="1850" dirty="0"/>
          </a:p>
        </p:txBody>
      </p:sp>
      <p:sp>
        <p:nvSpPr>
          <p:cNvPr id="10" name="Shape 7"/>
          <p:cNvSpPr/>
          <p:nvPr/>
        </p:nvSpPr>
        <p:spPr>
          <a:xfrm>
            <a:off x="4299901" y="2330884"/>
            <a:ext cx="3614618" cy="30480"/>
          </a:xfrm>
          <a:prstGeom prst="rect">
            <a:avLst/>
          </a:prstGeom>
          <a:solidFill>
            <a:srgbClr val="D7425E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1" name="Text 8"/>
          <p:cNvSpPr/>
          <p:nvPr/>
        </p:nvSpPr>
        <p:spPr>
          <a:xfrm>
            <a:off x="4699117" y="2000740"/>
            <a:ext cx="2816185" cy="3519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FFFFFF"/>
                </a:solidFill>
                <a:latin typeface="Nunito Semi Bold" pitchFamily="34" charset="0"/>
                <a:ea typeface="Nunito Semi Bold" pitchFamily="34" charset="-122"/>
                <a:cs typeface="Nunito Semi Bold" pitchFamily="34" charset="-120"/>
              </a:rPr>
              <a:t>쿠키 발급</a:t>
            </a:r>
            <a:endParaRPr lang="en-US" sz="2200" dirty="0"/>
          </a:p>
        </p:txBody>
      </p:sp>
      <p:sp>
        <p:nvSpPr>
          <p:cNvPr id="12" name="Text 9"/>
          <p:cNvSpPr/>
          <p:nvPr/>
        </p:nvSpPr>
        <p:spPr>
          <a:xfrm>
            <a:off x="4299901" y="2448481"/>
            <a:ext cx="3614618" cy="766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000"/>
              </a:lnSpc>
              <a:buNone/>
            </a:pPr>
            <a:r>
              <a:rPr lang="en-US" sz="1850" dirty="0">
                <a:solidFill>
                  <a:srgbClr val="FFFFFF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서버는 사용자 인증 정보를 쿠키에 담아 응답으로 전송합니다</a:t>
            </a:r>
            <a:endParaRPr lang="en-US" sz="1850" dirty="0"/>
          </a:p>
        </p:txBody>
      </p:sp>
      <p:sp>
        <p:nvSpPr>
          <p:cNvPr id="13" name="Text 10"/>
          <p:cNvSpPr/>
          <p:nvPr/>
        </p:nvSpPr>
        <p:spPr>
          <a:xfrm>
            <a:off x="8153835" y="1939288"/>
            <a:ext cx="133922" cy="29920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000"/>
              </a:lnSpc>
              <a:buNone/>
            </a:pPr>
            <a:r>
              <a:rPr lang="en-US" sz="1850" dirty="0">
                <a:solidFill>
                  <a:srgbClr val="FFFFFF"/>
                </a:solidFill>
                <a:latin typeface="Nunito Light" pitchFamily="34" charset="0"/>
                <a:ea typeface="Nunito Light" pitchFamily="34" charset="-122"/>
                <a:cs typeface="Nunito Light" pitchFamily="34" charset="-120"/>
              </a:rPr>
              <a:t>03</a:t>
            </a:r>
            <a:endParaRPr lang="en-US" sz="1850" dirty="0"/>
          </a:p>
        </p:txBody>
      </p:sp>
      <p:sp>
        <p:nvSpPr>
          <p:cNvPr id="14" name="Shape 11"/>
          <p:cNvSpPr/>
          <p:nvPr/>
        </p:nvSpPr>
        <p:spPr>
          <a:xfrm>
            <a:off x="8153836" y="2315644"/>
            <a:ext cx="4179414" cy="30480"/>
          </a:xfrm>
          <a:prstGeom prst="rect">
            <a:avLst/>
          </a:prstGeom>
          <a:solidFill>
            <a:srgbClr val="DD785E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5" name="Text 12"/>
          <p:cNvSpPr/>
          <p:nvPr/>
        </p:nvSpPr>
        <p:spPr>
          <a:xfrm>
            <a:off x="8553052" y="1961515"/>
            <a:ext cx="2060681" cy="2922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FFFFFF"/>
                </a:solidFill>
                <a:latin typeface="Nunito Semi Bold" pitchFamily="34" charset="0"/>
                <a:ea typeface="Nunito Semi Bold" pitchFamily="34" charset="-122"/>
                <a:cs typeface="Nunito Semi Bold" pitchFamily="34" charset="-120"/>
              </a:rPr>
              <a:t>쿠키 저장 및 전송</a:t>
            </a:r>
            <a:endParaRPr lang="en-US" sz="2200" dirty="0"/>
          </a:p>
        </p:txBody>
      </p:sp>
      <p:sp>
        <p:nvSpPr>
          <p:cNvPr id="16" name="Text 13"/>
          <p:cNvSpPr/>
          <p:nvPr/>
        </p:nvSpPr>
        <p:spPr>
          <a:xfrm>
            <a:off x="8153836" y="2433241"/>
            <a:ext cx="4179414" cy="766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000"/>
              </a:lnSpc>
              <a:buNone/>
            </a:pPr>
            <a:r>
              <a:rPr lang="en-US" sz="1850" dirty="0">
                <a:solidFill>
                  <a:srgbClr val="FFFFFF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클라이언트는 쿠키를 저장하고, 이후 모든 요청에 쿠키를 포함하여 전송합니다</a:t>
            </a:r>
            <a:endParaRPr lang="en-US" sz="1850" dirty="0"/>
          </a:p>
        </p:txBody>
      </p:sp>
      <p:pic>
        <p:nvPicPr>
          <p:cNvPr id="3074" name="Picture 2">
            <a:extLst>
              <a:ext uri="{FF2B5EF4-FFF2-40B4-BE49-F238E27FC236}">
                <a16:creationId xmlns:a16="http://schemas.microsoft.com/office/drawing/2014/main" id="{455C8E71-69D8-A84B-0B7C-CCD7C0680DE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4720" y="3375301"/>
            <a:ext cx="9527924" cy="475604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37724" y="2587585"/>
            <a:ext cx="5632490" cy="70401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00"/>
              </a:lnSpc>
              <a:buNone/>
            </a:pPr>
            <a:r>
              <a:rPr lang="en-US" sz="4400" dirty="0">
                <a:solidFill>
                  <a:srgbClr val="FFFFFF"/>
                </a:solidFill>
                <a:latin typeface="Nunito Semi Bold" pitchFamily="34" charset="0"/>
                <a:ea typeface="Nunito Semi Bold" pitchFamily="34" charset="-122"/>
                <a:cs typeface="Nunito Semi Bold" pitchFamily="34" charset="-120"/>
              </a:rPr>
              <a:t>쿠키의 치명적인 단점</a:t>
            </a:r>
            <a:endParaRPr lang="en-US" sz="4400" dirty="0"/>
          </a:p>
        </p:txBody>
      </p:sp>
      <p:sp>
        <p:nvSpPr>
          <p:cNvPr id="3" name="Shape 1"/>
          <p:cNvSpPr/>
          <p:nvPr/>
        </p:nvSpPr>
        <p:spPr>
          <a:xfrm>
            <a:off x="837724" y="3770352"/>
            <a:ext cx="6357818" cy="1871543"/>
          </a:xfrm>
          <a:prstGeom prst="roundRect">
            <a:avLst>
              <a:gd name="adj" fmla="val 7817"/>
            </a:avLst>
          </a:prstGeom>
          <a:solidFill>
            <a:srgbClr val="00002E">
              <a:alpha val="75000"/>
            </a:srgbClr>
          </a:solidFill>
          <a:ln w="30480">
            <a:solidFill>
              <a:srgbClr val="D7425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" name="Shape 2"/>
          <p:cNvSpPr/>
          <p:nvPr/>
        </p:nvSpPr>
        <p:spPr>
          <a:xfrm>
            <a:off x="807244" y="3770352"/>
            <a:ext cx="121920" cy="1871543"/>
          </a:xfrm>
          <a:prstGeom prst="roundRect">
            <a:avLst>
              <a:gd name="adj" fmla="val 294514"/>
            </a:avLst>
          </a:prstGeom>
          <a:solidFill>
            <a:srgbClr val="D7425E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" name="Text 3"/>
          <p:cNvSpPr/>
          <p:nvPr/>
        </p:nvSpPr>
        <p:spPr>
          <a:xfrm>
            <a:off x="1198959" y="4040148"/>
            <a:ext cx="3379470" cy="42231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300"/>
              </a:lnSpc>
              <a:buNone/>
            </a:pPr>
            <a:r>
              <a:rPr lang="en-US" sz="2650" dirty="0">
                <a:solidFill>
                  <a:srgbClr val="FFFFFF"/>
                </a:solidFill>
                <a:latin typeface="Nunito Semi Bold" pitchFamily="34" charset="0"/>
                <a:ea typeface="Nunito Semi Bold" pitchFamily="34" charset="-122"/>
                <a:cs typeface="Nunito Semi Bold" pitchFamily="34" charset="-120"/>
              </a:rPr>
              <a:t>정보 위조 가능</a:t>
            </a:r>
            <a:endParaRPr lang="en-US" sz="2650" dirty="0"/>
          </a:p>
        </p:txBody>
      </p:sp>
      <p:sp>
        <p:nvSpPr>
          <p:cNvPr id="6" name="Text 4"/>
          <p:cNvSpPr/>
          <p:nvPr/>
        </p:nvSpPr>
        <p:spPr>
          <a:xfrm>
            <a:off x="1198959" y="4606052"/>
            <a:ext cx="5726787" cy="766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000"/>
              </a:lnSpc>
              <a:buNone/>
            </a:pPr>
            <a:r>
              <a:rPr lang="en-US" sz="1850" dirty="0">
                <a:solidFill>
                  <a:srgbClr val="FFFFFF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클라이언트가 쿠키에 담긴 인증 정보를 쉽게 조작하고 위조할 수 있어 보안상 매우 취약합니다</a:t>
            </a:r>
            <a:endParaRPr lang="en-US" sz="1850" dirty="0"/>
          </a:p>
        </p:txBody>
      </p:sp>
      <p:sp>
        <p:nvSpPr>
          <p:cNvPr id="7" name="Shape 5"/>
          <p:cNvSpPr/>
          <p:nvPr/>
        </p:nvSpPr>
        <p:spPr>
          <a:xfrm>
            <a:off x="7434858" y="3770352"/>
            <a:ext cx="6357818" cy="1871543"/>
          </a:xfrm>
          <a:prstGeom prst="roundRect">
            <a:avLst>
              <a:gd name="adj" fmla="val 7817"/>
            </a:avLst>
          </a:prstGeom>
          <a:solidFill>
            <a:srgbClr val="00002E">
              <a:alpha val="75000"/>
            </a:srgbClr>
          </a:solidFill>
          <a:ln w="30480">
            <a:solidFill>
              <a:srgbClr val="DD785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" name="Shape 6"/>
          <p:cNvSpPr/>
          <p:nvPr/>
        </p:nvSpPr>
        <p:spPr>
          <a:xfrm>
            <a:off x="7404378" y="3770352"/>
            <a:ext cx="121920" cy="1871543"/>
          </a:xfrm>
          <a:prstGeom prst="roundRect">
            <a:avLst>
              <a:gd name="adj" fmla="val 294514"/>
            </a:avLst>
          </a:prstGeom>
          <a:solidFill>
            <a:srgbClr val="DD785E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9" name="Text 7"/>
          <p:cNvSpPr/>
          <p:nvPr/>
        </p:nvSpPr>
        <p:spPr>
          <a:xfrm>
            <a:off x="7796093" y="4040148"/>
            <a:ext cx="3379470" cy="42231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300"/>
              </a:lnSpc>
              <a:buNone/>
            </a:pPr>
            <a:r>
              <a:rPr lang="en-US" sz="2650" dirty="0">
                <a:solidFill>
                  <a:srgbClr val="FFFFFF"/>
                </a:solidFill>
                <a:latin typeface="Nunito Semi Bold" pitchFamily="34" charset="0"/>
                <a:ea typeface="Nunito Semi Bold" pitchFamily="34" charset="-122"/>
                <a:cs typeface="Nunito Semi Bold" pitchFamily="34" charset="-120"/>
              </a:rPr>
              <a:t>데이터 크기 제한</a:t>
            </a:r>
            <a:endParaRPr lang="en-US" sz="2650" dirty="0"/>
          </a:p>
        </p:txBody>
      </p:sp>
      <p:sp>
        <p:nvSpPr>
          <p:cNvPr id="10" name="Text 8"/>
          <p:cNvSpPr/>
          <p:nvPr/>
        </p:nvSpPr>
        <p:spPr>
          <a:xfrm>
            <a:off x="7796093" y="4606052"/>
            <a:ext cx="5726787" cy="766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000"/>
              </a:lnSpc>
              <a:buNone/>
            </a:pPr>
            <a:r>
              <a:rPr lang="en-US" sz="1850" dirty="0">
                <a:solidFill>
                  <a:srgbClr val="FFFFFF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쿠키의 데이터 크기가 제한적이며, 크기가 커질 경우 네트워크 부하가 증가하여 성능 저하를 일으킵니다</a:t>
            </a:r>
            <a:endParaRPr lang="en-US" sz="18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462319" y="556378"/>
            <a:ext cx="4351258" cy="5438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250"/>
              </a:lnSpc>
              <a:buNone/>
            </a:pPr>
            <a:r>
              <a:rPr lang="en-US" sz="3400" dirty="0" err="1">
                <a:solidFill>
                  <a:srgbClr val="FFFFFF"/>
                </a:solidFill>
                <a:latin typeface="Nunito Semi Bold" pitchFamily="34" charset="0"/>
                <a:ea typeface="Nunito Semi Bold" pitchFamily="34" charset="-122"/>
                <a:cs typeface="Nunito Semi Bold" pitchFamily="34" charset="-120"/>
              </a:rPr>
              <a:t>세션</a:t>
            </a:r>
            <a:r>
              <a:rPr lang="en-US" sz="3400" dirty="0">
                <a:solidFill>
                  <a:srgbClr val="FFFFFF"/>
                </a:solidFill>
                <a:latin typeface="Nunito Semi Bold" pitchFamily="34" charset="0"/>
                <a:ea typeface="Nunito Semi Bold" pitchFamily="34" charset="-122"/>
                <a:cs typeface="Nunito Semi Bold" pitchFamily="34" charset="-120"/>
              </a:rPr>
              <a:t>(Session) </a:t>
            </a:r>
            <a:r>
              <a:rPr lang="en-US" sz="3400" dirty="0" err="1">
                <a:solidFill>
                  <a:srgbClr val="FFFFFF"/>
                </a:solidFill>
                <a:latin typeface="Nunito Semi Bold" pitchFamily="34" charset="0"/>
                <a:ea typeface="Nunito Semi Bold" pitchFamily="34" charset="-122"/>
                <a:cs typeface="Nunito Semi Bold" pitchFamily="34" charset="-120"/>
              </a:rPr>
              <a:t>기반</a:t>
            </a:r>
            <a:r>
              <a:rPr lang="en-US" sz="3400" dirty="0">
                <a:solidFill>
                  <a:srgbClr val="FFFFFF"/>
                </a:solidFill>
                <a:latin typeface="Nunito Semi Bold" pitchFamily="34" charset="0"/>
                <a:ea typeface="Nunito Semi Bold" pitchFamily="34" charset="-122"/>
                <a:cs typeface="Nunito Semi Bold" pitchFamily="34" charset="-120"/>
              </a:rPr>
              <a:t> 인증</a:t>
            </a:r>
            <a:endParaRPr lang="en-US" sz="3400" dirty="0"/>
          </a:p>
        </p:txBody>
      </p:sp>
      <p:sp>
        <p:nvSpPr>
          <p:cNvPr id="4" name="Text 1"/>
          <p:cNvSpPr/>
          <p:nvPr/>
        </p:nvSpPr>
        <p:spPr>
          <a:xfrm>
            <a:off x="462319" y="1377552"/>
            <a:ext cx="13335953" cy="2957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00"/>
              </a:lnSpc>
              <a:buNone/>
            </a:pPr>
            <a:r>
              <a:rPr lang="en-US" sz="2400" dirty="0">
                <a:solidFill>
                  <a:srgbClr val="FFFFFF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세션은 </a:t>
            </a:r>
            <a:r>
              <a:rPr lang="en-US" sz="2400" b="1" dirty="0">
                <a:solidFill>
                  <a:srgbClr val="FFFFFF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서버 메모리</a:t>
            </a:r>
            <a:r>
              <a:rPr lang="en-US" sz="2400" dirty="0">
                <a:solidFill>
                  <a:srgbClr val="FFFFFF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에 사용자 </a:t>
            </a:r>
            <a:r>
              <a:rPr lang="en-US" sz="2400" b="1" dirty="0">
                <a:solidFill>
                  <a:srgbClr val="FFFFFF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정보를 저장하고 관리하는 방식</a:t>
            </a:r>
            <a:r>
              <a:rPr lang="en-US" sz="2400" dirty="0">
                <a:solidFill>
                  <a:srgbClr val="FFFFFF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으로, 쿠키의 보안 문제를 해결합니다.</a:t>
            </a:r>
            <a:endParaRPr lang="en-US" sz="2400" dirty="0"/>
          </a:p>
        </p:txBody>
      </p:sp>
      <p:pic>
        <p:nvPicPr>
          <p:cNvPr id="5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2319" y="2461327"/>
            <a:ext cx="6667976" cy="739616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647223" y="3385847"/>
            <a:ext cx="2720445" cy="2718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2000" dirty="0">
                <a:solidFill>
                  <a:srgbClr val="FFFFFF"/>
                </a:solidFill>
                <a:latin typeface="Nunito Semi Bold" pitchFamily="34" charset="0"/>
                <a:ea typeface="Nunito Semi Bold" pitchFamily="34" charset="-122"/>
                <a:cs typeface="Nunito Semi Bold" pitchFamily="34" charset="-120"/>
              </a:rPr>
              <a:t>1. </a:t>
            </a:r>
            <a:r>
              <a:rPr lang="ko-KR" altLang="en-US" sz="2000" dirty="0">
                <a:solidFill>
                  <a:srgbClr val="FFFFFF"/>
                </a:solidFill>
                <a:latin typeface="Nunito Semi Bold" pitchFamily="34" charset="0"/>
                <a:ea typeface="Nunito Semi Bold" pitchFamily="34" charset="-122"/>
                <a:cs typeface="Nunito Semi Bold" pitchFamily="34" charset="-120"/>
              </a:rPr>
              <a:t>사용자 </a:t>
            </a:r>
            <a:r>
              <a:rPr lang="en-US" sz="2000" dirty="0" err="1">
                <a:solidFill>
                  <a:srgbClr val="FFFFFF"/>
                </a:solidFill>
                <a:latin typeface="Nunito Semi Bold" pitchFamily="34" charset="0"/>
                <a:ea typeface="Nunito Semi Bold" pitchFamily="34" charset="-122"/>
                <a:cs typeface="Nunito Semi Bold" pitchFamily="34" charset="-120"/>
              </a:rPr>
              <a:t>로그인</a:t>
            </a:r>
            <a:r>
              <a:rPr lang="en-US" sz="2000" dirty="0">
                <a:solidFill>
                  <a:srgbClr val="FFFFFF"/>
                </a:solidFill>
                <a:latin typeface="Nunito Semi Bold" pitchFamily="34" charset="0"/>
                <a:ea typeface="Nunito Semi Bold" pitchFamily="34" charset="-122"/>
                <a:cs typeface="Nunito Semi Bold" pitchFamily="34" charset="-120"/>
              </a:rPr>
              <a:t> 및 세션 생성</a:t>
            </a:r>
            <a:endParaRPr lang="en-US" sz="2000" dirty="0"/>
          </a:p>
        </p:txBody>
      </p:sp>
      <p:sp>
        <p:nvSpPr>
          <p:cNvPr id="7" name="Text 3"/>
          <p:cNvSpPr/>
          <p:nvPr/>
        </p:nvSpPr>
        <p:spPr>
          <a:xfrm>
            <a:off x="647223" y="3768514"/>
            <a:ext cx="6298168" cy="2957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00"/>
              </a:lnSpc>
              <a:buNone/>
            </a:pPr>
            <a:r>
              <a:rPr lang="en-US" dirty="0">
                <a:solidFill>
                  <a:srgbClr val="FFFFFF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서버 메모리에 세션 저장, SessionId 발급</a:t>
            </a:r>
            <a:endParaRPr lang="en-US" dirty="0"/>
          </a:p>
        </p:txBody>
      </p:sp>
      <p:pic>
        <p:nvPicPr>
          <p:cNvPr id="8" name="Image 2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130295" y="2461327"/>
            <a:ext cx="6667976" cy="739616"/>
          </a:xfrm>
          <a:prstGeom prst="rect">
            <a:avLst/>
          </a:prstGeom>
        </p:spPr>
      </p:pic>
      <p:sp>
        <p:nvSpPr>
          <p:cNvPr id="9" name="Text 4"/>
          <p:cNvSpPr/>
          <p:nvPr/>
        </p:nvSpPr>
        <p:spPr>
          <a:xfrm>
            <a:off x="7315199" y="3385847"/>
            <a:ext cx="2175629" cy="2718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2000" dirty="0">
                <a:solidFill>
                  <a:srgbClr val="FFFFFF"/>
                </a:solidFill>
                <a:latin typeface="Nunito Semi Bold" pitchFamily="34" charset="0"/>
                <a:ea typeface="Nunito Semi Bold" pitchFamily="34" charset="-122"/>
                <a:cs typeface="Nunito Semi Bold" pitchFamily="34" charset="-120"/>
              </a:rPr>
              <a:t>2. </a:t>
            </a:r>
            <a:r>
              <a:rPr lang="en-US" sz="2000" dirty="0" err="1">
                <a:solidFill>
                  <a:srgbClr val="FFFFFF"/>
                </a:solidFill>
                <a:latin typeface="Nunito Semi Bold" pitchFamily="34" charset="0"/>
                <a:ea typeface="Nunito Semi Bold" pitchFamily="34" charset="-122"/>
                <a:cs typeface="Nunito Semi Bold" pitchFamily="34" charset="-120"/>
              </a:rPr>
              <a:t>SessionId</a:t>
            </a:r>
            <a:r>
              <a:rPr lang="en-US" sz="2000" dirty="0">
                <a:solidFill>
                  <a:srgbClr val="FFFFFF"/>
                </a:solidFill>
                <a:latin typeface="Nunito Semi Bold" pitchFamily="34" charset="0"/>
                <a:ea typeface="Nunito Semi Bold" pitchFamily="34" charset="-122"/>
                <a:cs typeface="Nunito Semi Bold" pitchFamily="34" charset="-120"/>
              </a:rPr>
              <a:t> 전달</a:t>
            </a:r>
            <a:endParaRPr lang="en-US" sz="2000" dirty="0"/>
          </a:p>
        </p:txBody>
      </p:sp>
      <p:sp>
        <p:nvSpPr>
          <p:cNvPr id="10" name="Text 5"/>
          <p:cNvSpPr/>
          <p:nvPr/>
        </p:nvSpPr>
        <p:spPr>
          <a:xfrm>
            <a:off x="7315199" y="3768514"/>
            <a:ext cx="6298168" cy="2957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00"/>
              </a:lnSpc>
              <a:buNone/>
            </a:pPr>
            <a:r>
              <a:rPr lang="en-US" dirty="0">
                <a:solidFill>
                  <a:srgbClr val="FFFFFF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쿠키에 SessionId를 담아 브라우저로 전송</a:t>
            </a:r>
            <a:endParaRPr lang="en-US" dirty="0"/>
          </a:p>
        </p:txBody>
      </p:sp>
      <p:pic>
        <p:nvPicPr>
          <p:cNvPr id="11" name="Image 3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62320" y="4803882"/>
            <a:ext cx="6667976" cy="739616"/>
          </a:xfrm>
          <a:prstGeom prst="rect">
            <a:avLst/>
          </a:prstGeom>
        </p:spPr>
      </p:pic>
      <p:sp>
        <p:nvSpPr>
          <p:cNvPr id="12" name="Text 6"/>
          <p:cNvSpPr/>
          <p:nvPr/>
        </p:nvSpPr>
        <p:spPr>
          <a:xfrm>
            <a:off x="647224" y="5728403"/>
            <a:ext cx="2175629" cy="2718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2000" dirty="0">
                <a:solidFill>
                  <a:srgbClr val="FFFFFF"/>
                </a:solidFill>
                <a:latin typeface="Nunito Semi Bold" pitchFamily="34" charset="0"/>
                <a:ea typeface="Nunito Semi Bold" pitchFamily="34" charset="-122"/>
                <a:cs typeface="Nunito Semi Bold" pitchFamily="34" charset="-120"/>
              </a:rPr>
              <a:t>3. </a:t>
            </a:r>
            <a:r>
              <a:rPr lang="en-US" sz="2000" dirty="0" err="1">
                <a:solidFill>
                  <a:srgbClr val="FFFFFF"/>
                </a:solidFill>
                <a:latin typeface="Nunito Semi Bold" pitchFamily="34" charset="0"/>
                <a:ea typeface="Nunito Semi Bold" pitchFamily="34" charset="-122"/>
                <a:cs typeface="Nunito Semi Bold" pitchFamily="34" charset="-120"/>
              </a:rPr>
              <a:t>요청</a:t>
            </a:r>
            <a:r>
              <a:rPr lang="en-US" sz="2000" dirty="0">
                <a:solidFill>
                  <a:srgbClr val="FFFFFF"/>
                </a:solidFill>
                <a:latin typeface="Nunito Semi Bold" pitchFamily="34" charset="0"/>
                <a:ea typeface="Nunito Semi Bold" pitchFamily="34" charset="-122"/>
                <a:cs typeface="Nunito Semi Bold" pitchFamily="34" charset="-120"/>
              </a:rPr>
              <a:t> 시 전송</a:t>
            </a:r>
            <a:endParaRPr lang="en-US" sz="2000" dirty="0"/>
          </a:p>
        </p:txBody>
      </p:sp>
      <p:sp>
        <p:nvSpPr>
          <p:cNvPr id="13" name="Text 7"/>
          <p:cNvSpPr/>
          <p:nvPr/>
        </p:nvSpPr>
        <p:spPr>
          <a:xfrm>
            <a:off x="647224" y="6111070"/>
            <a:ext cx="6298168" cy="2957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00"/>
              </a:lnSpc>
              <a:buNone/>
            </a:pPr>
            <a:r>
              <a:rPr lang="en-US" dirty="0">
                <a:solidFill>
                  <a:srgbClr val="FFFFFF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모든 요청에 SessionId 포함</a:t>
            </a:r>
            <a:endParaRPr lang="en-US" dirty="0"/>
          </a:p>
        </p:txBody>
      </p:sp>
      <p:pic>
        <p:nvPicPr>
          <p:cNvPr id="14" name="Image 4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130296" y="4803882"/>
            <a:ext cx="6667976" cy="739616"/>
          </a:xfrm>
          <a:prstGeom prst="rect">
            <a:avLst/>
          </a:prstGeom>
        </p:spPr>
      </p:pic>
      <p:sp>
        <p:nvSpPr>
          <p:cNvPr id="15" name="Text 8"/>
          <p:cNvSpPr/>
          <p:nvPr/>
        </p:nvSpPr>
        <p:spPr>
          <a:xfrm>
            <a:off x="7315200" y="5728403"/>
            <a:ext cx="2175629" cy="2718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2000" dirty="0">
                <a:solidFill>
                  <a:srgbClr val="FFFFFF"/>
                </a:solidFill>
                <a:latin typeface="Nunito Semi Bold" pitchFamily="34" charset="0"/>
                <a:ea typeface="Nunito Semi Bold" pitchFamily="34" charset="-122"/>
                <a:cs typeface="Nunito Semi Bold" pitchFamily="34" charset="-120"/>
              </a:rPr>
              <a:t>4. </a:t>
            </a:r>
            <a:r>
              <a:rPr lang="en-US" sz="2000" dirty="0" err="1">
                <a:solidFill>
                  <a:srgbClr val="FFFFFF"/>
                </a:solidFill>
                <a:latin typeface="Nunito Semi Bold" pitchFamily="34" charset="0"/>
                <a:ea typeface="Nunito Semi Bold" pitchFamily="34" charset="-122"/>
                <a:cs typeface="Nunito Semi Bold" pitchFamily="34" charset="-120"/>
              </a:rPr>
              <a:t>검증</a:t>
            </a:r>
            <a:r>
              <a:rPr lang="en-US" sz="2000" dirty="0">
                <a:solidFill>
                  <a:srgbClr val="FFFFFF"/>
                </a:solidFill>
                <a:latin typeface="Nunito Semi Bold" pitchFamily="34" charset="0"/>
                <a:ea typeface="Nunito Semi Bold" pitchFamily="34" charset="-122"/>
                <a:cs typeface="Nunito Semi Bold" pitchFamily="34" charset="-120"/>
              </a:rPr>
              <a:t> 및 응답</a:t>
            </a:r>
            <a:endParaRPr lang="en-US" sz="2000" dirty="0"/>
          </a:p>
        </p:txBody>
      </p:sp>
      <p:sp>
        <p:nvSpPr>
          <p:cNvPr id="16" name="Text 9"/>
          <p:cNvSpPr/>
          <p:nvPr/>
        </p:nvSpPr>
        <p:spPr>
          <a:xfrm>
            <a:off x="7315200" y="6111070"/>
            <a:ext cx="6298168" cy="2957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00"/>
              </a:lnSpc>
              <a:buNone/>
            </a:pPr>
            <a:r>
              <a:rPr lang="en-US" dirty="0">
                <a:solidFill>
                  <a:srgbClr val="FFFFFF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서버가 SessionId로 세션 확인 후 응답</a:t>
            </a:r>
            <a:endParaRPr lang="en-US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23E9B5D-429F-B6A2-CBB4-8A6B8AC09E1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98" name="Picture 2">
            <a:extLst>
              <a:ext uri="{FF2B5EF4-FFF2-40B4-BE49-F238E27FC236}">
                <a16:creationId xmlns:a16="http://schemas.microsoft.com/office/drawing/2014/main" id="{5D16F550-6143-F90A-BFC4-926A2F01007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72465" y="1419824"/>
            <a:ext cx="11885470" cy="612457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ext 0">
            <a:extLst>
              <a:ext uri="{FF2B5EF4-FFF2-40B4-BE49-F238E27FC236}">
                <a16:creationId xmlns:a16="http://schemas.microsoft.com/office/drawing/2014/main" id="{149037C4-7BEB-4F84-AE5C-AC248D3DC9E3}"/>
              </a:ext>
            </a:extLst>
          </p:cNvPr>
          <p:cNvSpPr/>
          <p:nvPr/>
        </p:nvSpPr>
        <p:spPr>
          <a:xfrm>
            <a:off x="462319" y="556378"/>
            <a:ext cx="4351258" cy="5438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250"/>
              </a:lnSpc>
              <a:buNone/>
            </a:pPr>
            <a:r>
              <a:rPr lang="en-US" sz="3400" dirty="0" err="1">
                <a:solidFill>
                  <a:srgbClr val="FFFFFF"/>
                </a:solidFill>
                <a:latin typeface="Nunito Semi Bold" pitchFamily="34" charset="0"/>
                <a:ea typeface="Nunito Semi Bold" pitchFamily="34" charset="-122"/>
                <a:cs typeface="Nunito Semi Bold" pitchFamily="34" charset="-120"/>
              </a:rPr>
              <a:t>세션</a:t>
            </a:r>
            <a:r>
              <a:rPr lang="en-US" sz="3400" dirty="0">
                <a:solidFill>
                  <a:srgbClr val="FFFFFF"/>
                </a:solidFill>
                <a:latin typeface="Nunito Semi Bold" pitchFamily="34" charset="0"/>
                <a:ea typeface="Nunito Semi Bold" pitchFamily="34" charset="-122"/>
                <a:cs typeface="Nunito Semi Bold" pitchFamily="34" charset="-120"/>
              </a:rPr>
              <a:t>(Session) </a:t>
            </a:r>
            <a:r>
              <a:rPr lang="en-US" sz="3400" dirty="0" err="1">
                <a:solidFill>
                  <a:srgbClr val="FFFFFF"/>
                </a:solidFill>
                <a:latin typeface="Nunito Semi Bold" pitchFamily="34" charset="0"/>
                <a:ea typeface="Nunito Semi Bold" pitchFamily="34" charset="-122"/>
                <a:cs typeface="Nunito Semi Bold" pitchFamily="34" charset="-120"/>
              </a:rPr>
              <a:t>기반</a:t>
            </a:r>
            <a:r>
              <a:rPr lang="en-US" sz="3400" dirty="0">
                <a:solidFill>
                  <a:srgbClr val="FFFFFF"/>
                </a:solidFill>
                <a:latin typeface="Nunito Semi Bold" pitchFamily="34" charset="0"/>
                <a:ea typeface="Nunito Semi Bold" pitchFamily="34" charset="-122"/>
                <a:cs typeface="Nunito Semi Bold" pitchFamily="34" charset="-120"/>
              </a:rPr>
              <a:t> 인증</a:t>
            </a:r>
            <a:endParaRPr lang="en-US" sz="3400" dirty="0"/>
          </a:p>
        </p:txBody>
      </p:sp>
    </p:spTree>
    <p:extLst>
      <p:ext uri="{BB962C8B-B14F-4D97-AF65-F5344CB8AC3E}">
        <p14:creationId xmlns:p14="http://schemas.microsoft.com/office/powerpoint/2010/main" val="297327476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37724" y="2199323"/>
            <a:ext cx="5632490" cy="70401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00"/>
              </a:lnSpc>
              <a:buNone/>
            </a:pPr>
            <a:r>
              <a:rPr lang="en-US" sz="4400" dirty="0">
                <a:solidFill>
                  <a:srgbClr val="FFFFFF"/>
                </a:solidFill>
                <a:latin typeface="Nunito Semi Bold" pitchFamily="34" charset="0"/>
                <a:ea typeface="Nunito Semi Bold" pitchFamily="34" charset="-122"/>
                <a:cs typeface="Nunito Semi Bold" pitchFamily="34" charset="-120"/>
              </a:rPr>
              <a:t>세션 방식의 장단점</a:t>
            </a:r>
            <a:endParaRPr lang="en-US" sz="4400" dirty="0"/>
          </a:p>
        </p:txBody>
      </p:sp>
      <p:sp>
        <p:nvSpPr>
          <p:cNvPr id="3" name="Text 1"/>
          <p:cNvSpPr/>
          <p:nvPr/>
        </p:nvSpPr>
        <p:spPr>
          <a:xfrm>
            <a:off x="837724" y="3501628"/>
            <a:ext cx="3379470" cy="42231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300"/>
              </a:lnSpc>
              <a:buNone/>
            </a:pPr>
            <a:r>
              <a:rPr lang="en-US" sz="2650" dirty="0">
                <a:solidFill>
                  <a:srgbClr val="48A8E2"/>
                </a:solidFill>
                <a:latin typeface="Nunito Semi Bold" pitchFamily="34" charset="0"/>
                <a:ea typeface="Nunito Semi Bold" pitchFamily="34" charset="-122"/>
                <a:cs typeface="Nunito Semi Bold" pitchFamily="34" charset="-120"/>
              </a:rPr>
              <a:t>✓</a:t>
            </a:r>
            <a:r>
              <a:rPr lang="en-US" sz="2650" dirty="0">
                <a:solidFill>
                  <a:srgbClr val="FFFFFF"/>
                </a:solidFill>
                <a:latin typeface="Nunito Semi Bold" pitchFamily="34" charset="0"/>
                <a:ea typeface="Nunito Semi Bold" pitchFamily="34" charset="-122"/>
                <a:cs typeface="Nunito Semi Bold" pitchFamily="34" charset="-120"/>
              </a:rPr>
              <a:t> 장점</a:t>
            </a:r>
            <a:endParaRPr lang="en-US" sz="2650" dirty="0"/>
          </a:p>
        </p:txBody>
      </p:sp>
      <p:sp>
        <p:nvSpPr>
          <p:cNvPr id="4" name="Text 2"/>
          <p:cNvSpPr/>
          <p:nvPr/>
        </p:nvSpPr>
        <p:spPr>
          <a:xfrm>
            <a:off x="837724" y="4163258"/>
            <a:ext cx="6185535" cy="3830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3000"/>
              </a:lnSpc>
              <a:buSzPct val="100000"/>
              <a:buChar char="•"/>
            </a:pPr>
            <a:r>
              <a:rPr lang="en-US" sz="1850" dirty="0">
                <a:solidFill>
                  <a:srgbClr val="FFFFFF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서버가 인증 정보를 관리하여 </a:t>
            </a:r>
            <a:r>
              <a:rPr lang="en-US" sz="1850" b="1" dirty="0">
                <a:solidFill>
                  <a:srgbClr val="FFFFFF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보안성이 높음</a:t>
            </a:r>
            <a:endParaRPr lang="en-US" sz="1850" dirty="0"/>
          </a:p>
        </p:txBody>
      </p:sp>
      <p:sp>
        <p:nvSpPr>
          <p:cNvPr id="5" name="Text 3"/>
          <p:cNvSpPr/>
          <p:nvPr/>
        </p:nvSpPr>
        <p:spPr>
          <a:xfrm>
            <a:off x="837724" y="4629983"/>
            <a:ext cx="6185535" cy="3830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3000"/>
              </a:lnSpc>
              <a:buSzPct val="100000"/>
              <a:buChar char="•"/>
            </a:pPr>
            <a:r>
              <a:rPr lang="en-US" sz="1850" dirty="0">
                <a:solidFill>
                  <a:srgbClr val="FFFFFF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사용자 로그인 여부 확인 용이</a:t>
            </a:r>
            <a:endParaRPr lang="en-US" sz="1850" dirty="0"/>
          </a:p>
        </p:txBody>
      </p:sp>
      <p:sp>
        <p:nvSpPr>
          <p:cNvPr id="6" name="Text 4"/>
          <p:cNvSpPr/>
          <p:nvPr/>
        </p:nvSpPr>
        <p:spPr>
          <a:xfrm>
            <a:off x="837724" y="5096708"/>
            <a:ext cx="6185535" cy="3830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3000"/>
              </a:lnSpc>
              <a:buSzPct val="100000"/>
              <a:buChar char="•"/>
            </a:pPr>
            <a:r>
              <a:rPr lang="en-US" sz="1850" dirty="0">
                <a:solidFill>
                  <a:srgbClr val="FFFFFF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필요 시 강제 로그아웃 등 제재 가능</a:t>
            </a:r>
            <a:endParaRPr lang="en-US" sz="1850" dirty="0"/>
          </a:p>
        </p:txBody>
      </p:sp>
      <p:sp>
        <p:nvSpPr>
          <p:cNvPr id="7" name="Text 5"/>
          <p:cNvSpPr/>
          <p:nvPr/>
        </p:nvSpPr>
        <p:spPr>
          <a:xfrm>
            <a:off x="837724" y="5563433"/>
            <a:ext cx="6185535" cy="3830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3000"/>
              </a:lnSpc>
              <a:buSzPct val="100000"/>
              <a:buChar char="•"/>
            </a:pPr>
            <a:r>
              <a:rPr lang="en-US" sz="1850" dirty="0">
                <a:solidFill>
                  <a:srgbClr val="FFFFFF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클라이언트의 임의 정보 변경에도 안전</a:t>
            </a:r>
            <a:endParaRPr lang="en-US" sz="1850" dirty="0"/>
          </a:p>
        </p:txBody>
      </p:sp>
      <p:sp>
        <p:nvSpPr>
          <p:cNvPr id="8" name="Text 6"/>
          <p:cNvSpPr/>
          <p:nvPr/>
        </p:nvSpPr>
        <p:spPr>
          <a:xfrm>
            <a:off x="7614761" y="3501628"/>
            <a:ext cx="3379470" cy="42231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300"/>
              </a:lnSpc>
              <a:buNone/>
            </a:pPr>
            <a:r>
              <a:rPr lang="en-US" sz="2650" dirty="0">
                <a:solidFill>
                  <a:srgbClr val="D7425E"/>
                </a:solidFill>
                <a:latin typeface="Nunito Semi Bold" pitchFamily="34" charset="0"/>
                <a:ea typeface="Nunito Semi Bold" pitchFamily="34" charset="-122"/>
                <a:cs typeface="Nunito Semi Bold" pitchFamily="34" charset="-120"/>
              </a:rPr>
              <a:t>✗</a:t>
            </a:r>
            <a:r>
              <a:rPr lang="en-US" sz="2650" dirty="0">
                <a:solidFill>
                  <a:srgbClr val="FFFFFF"/>
                </a:solidFill>
                <a:latin typeface="Nunito Semi Bold" pitchFamily="34" charset="0"/>
                <a:ea typeface="Nunito Semi Bold" pitchFamily="34" charset="-122"/>
                <a:cs typeface="Nunito Semi Bold" pitchFamily="34" charset="-120"/>
              </a:rPr>
              <a:t> 단점</a:t>
            </a:r>
            <a:endParaRPr lang="en-US" sz="2650" dirty="0"/>
          </a:p>
        </p:txBody>
      </p:sp>
      <p:sp>
        <p:nvSpPr>
          <p:cNvPr id="9" name="Text 7"/>
          <p:cNvSpPr/>
          <p:nvPr/>
        </p:nvSpPr>
        <p:spPr>
          <a:xfrm>
            <a:off x="7614761" y="4163258"/>
            <a:ext cx="6185535" cy="3830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3000"/>
              </a:lnSpc>
              <a:buSzPct val="100000"/>
              <a:buChar char="•"/>
            </a:pPr>
            <a:r>
              <a:rPr lang="en-US" sz="1850" dirty="0">
                <a:solidFill>
                  <a:srgbClr val="FFFFFF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서버에서 상태를 관리하므로 </a:t>
            </a:r>
            <a:r>
              <a:rPr lang="en-US" sz="1850" b="1" dirty="0">
                <a:solidFill>
                  <a:srgbClr val="FFFFFF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서버 부하 증가</a:t>
            </a:r>
            <a:endParaRPr lang="en-US" sz="1850" dirty="0"/>
          </a:p>
        </p:txBody>
      </p:sp>
      <p:sp>
        <p:nvSpPr>
          <p:cNvPr id="10" name="Text 8"/>
          <p:cNvSpPr/>
          <p:nvPr/>
        </p:nvSpPr>
        <p:spPr>
          <a:xfrm>
            <a:off x="7614761" y="4629983"/>
            <a:ext cx="6185535" cy="3830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3000"/>
              </a:lnSpc>
              <a:buSzPct val="100000"/>
              <a:buChar char="•"/>
            </a:pPr>
            <a:r>
              <a:rPr lang="en-US" sz="1850" dirty="0">
                <a:solidFill>
                  <a:srgbClr val="FFFFFF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로드 밸런싱 시 세션 동기화 문제 발생</a:t>
            </a:r>
            <a:endParaRPr lang="en-US" sz="1850" dirty="0"/>
          </a:p>
        </p:txBody>
      </p:sp>
      <p:sp>
        <p:nvSpPr>
          <p:cNvPr id="11" name="Text 9"/>
          <p:cNvSpPr/>
          <p:nvPr/>
        </p:nvSpPr>
        <p:spPr>
          <a:xfrm>
            <a:off x="7614761" y="5096708"/>
            <a:ext cx="6185535" cy="3830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3000"/>
              </a:lnSpc>
              <a:buSzPct val="100000"/>
              <a:buChar char="•"/>
            </a:pPr>
            <a:r>
              <a:rPr lang="en-US" sz="1850" dirty="0">
                <a:solidFill>
                  <a:srgbClr val="FFFFFF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DB 저장 시 조회 비용 증가</a:t>
            </a:r>
            <a:endParaRPr lang="en-US" sz="18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036411B-D1AB-F604-C6B7-4EF5F2D73D6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22" name="Picture 2">
            <a:extLst>
              <a:ext uri="{FF2B5EF4-FFF2-40B4-BE49-F238E27FC236}">
                <a16:creationId xmlns:a16="http://schemas.microsoft.com/office/drawing/2014/main" id="{63738B28-FAEA-3D69-D264-920F28E2307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87604" y="1232209"/>
            <a:ext cx="10855192" cy="631716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ED16770F-A253-1712-8FB2-010B225FD3D6}"/>
              </a:ext>
            </a:extLst>
          </p:cNvPr>
          <p:cNvSpPr txBox="1"/>
          <p:nvPr/>
        </p:nvSpPr>
        <p:spPr>
          <a:xfrm>
            <a:off x="323384" y="370762"/>
            <a:ext cx="7315200" cy="46044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3000"/>
              </a:lnSpc>
              <a:buSzPct val="100000"/>
            </a:pPr>
            <a:r>
              <a:rPr lang="en-US" altLang="ko-KR" sz="2400" b="1" dirty="0" err="1">
                <a:solidFill>
                  <a:srgbClr val="FFFFFF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로드</a:t>
            </a:r>
            <a:r>
              <a:rPr lang="en-US" altLang="ko-KR" sz="2400" b="1" dirty="0">
                <a:solidFill>
                  <a:srgbClr val="FFFFFF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 </a:t>
            </a:r>
            <a:r>
              <a:rPr lang="en-US" altLang="ko-KR" sz="2400" b="1" dirty="0" err="1">
                <a:solidFill>
                  <a:srgbClr val="FFFFFF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밸런싱</a:t>
            </a:r>
            <a:r>
              <a:rPr lang="en-US" altLang="ko-KR" sz="2400" b="1" dirty="0">
                <a:solidFill>
                  <a:srgbClr val="FFFFFF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 시 </a:t>
            </a:r>
            <a:r>
              <a:rPr lang="en-US" altLang="ko-KR" sz="2400" b="1" dirty="0" err="1">
                <a:solidFill>
                  <a:srgbClr val="FFFFFF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세션</a:t>
            </a:r>
            <a:r>
              <a:rPr lang="en-US" altLang="ko-KR" sz="2400" b="1" dirty="0">
                <a:solidFill>
                  <a:srgbClr val="FFFFFF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 </a:t>
            </a:r>
            <a:r>
              <a:rPr lang="en-US" altLang="ko-KR" sz="2400" b="1" dirty="0" err="1">
                <a:solidFill>
                  <a:srgbClr val="FFFFFF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동기화</a:t>
            </a:r>
            <a:r>
              <a:rPr lang="en-US" altLang="ko-KR" sz="2400" b="1" dirty="0">
                <a:solidFill>
                  <a:srgbClr val="FFFFFF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 </a:t>
            </a:r>
            <a:r>
              <a:rPr lang="en-US" altLang="ko-KR" sz="2400" b="1" dirty="0" err="1">
                <a:solidFill>
                  <a:srgbClr val="FFFFFF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문제</a:t>
            </a:r>
            <a:r>
              <a:rPr lang="en-US" altLang="ko-KR" sz="2400" b="1" dirty="0">
                <a:solidFill>
                  <a:srgbClr val="FFFFFF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 </a:t>
            </a:r>
            <a:r>
              <a:rPr lang="en-US" altLang="ko-KR" sz="2400" b="1" dirty="0" err="1">
                <a:solidFill>
                  <a:srgbClr val="FFFFFF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발생</a:t>
            </a:r>
            <a:endParaRPr lang="en-US" altLang="ko-KR" sz="2400" b="1" dirty="0"/>
          </a:p>
        </p:txBody>
      </p:sp>
    </p:spTree>
    <p:extLst>
      <p:ext uri="{BB962C8B-B14F-4D97-AF65-F5344CB8AC3E}">
        <p14:creationId xmlns:p14="http://schemas.microsoft.com/office/powerpoint/2010/main" val="97567996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7456" y="470535"/>
            <a:ext cx="4016693" cy="5020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950"/>
              </a:lnSpc>
              <a:buNone/>
            </a:pPr>
            <a:r>
              <a:rPr lang="en-US" sz="3150" dirty="0" err="1">
                <a:solidFill>
                  <a:srgbClr val="FFFFFF"/>
                </a:solidFill>
                <a:latin typeface="Nunito Semi Bold" pitchFamily="34" charset="0"/>
                <a:ea typeface="Nunito Semi Bold" pitchFamily="34" charset="-122"/>
                <a:cs typeface="Nunito Semi Bold" pitchFamily="34" charset="-120"/>
              </a:rPr>
              <a:t>토큰</a:t>
            </a:r>
            <a:r>
              <a:rPr lang="en-US" sz="3150" dirty="0">
                <a:solidFill>
                  <a:srgbClr val="FFFFFF"/>
                </a:solidFill>
                <a:latin typeface="Nunito Semi Bold" pitchFamily="34" charset="0"/>
                <a:ea typeface="Nunito Semi Bold" pitchFamily="34" charset="-122"/>
                <a:cs typeface="Nunito Semi Bold" pitchFamily="34" charset="-120"/>
              </a:rPr>
              <a:t>(Token) 기반 인증</a:t>
            </a:r>
            <a:endParaRPr lang="en-US" sz="3150" dirty="0"/>
          </a:p>
        </p:txBody>
      </p:sp>
      <p:sp>
        <p:nvSpPr>
          <p:cNvPr id="3" name="Text 1"/>
          <p:cNvSpPr/>
          <p:nvPr/>
        </p:nvSpPr>
        <p:spPr>
          <a:xfrm>
            <a:off x="597456" y="1191943"/>
            <a:ext cx="13435489" cy="27312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50"/>
              </a:lnSpc>
              <a:buNone/>
            </a:pPr>
            <a:r>
              <a:rPr lang="en-US" dirty="0">
                <a:solidFill>
                  <a:srgbClr val="FFFFFF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토큰은 서버가 클라이언트를 인증했다는 의미로 발급하는 디지털 입장권입니다. 서버는 상태를 저장하지 않고 토큰의 유효성만 검증합니다.</a:t>
            </a:r>
            <a:endParaRPr lang="en-US" dirty="0"/>
          </a:p>
        </p:txBody>
      </p:sp>
      <p:sp>
        <p:nvSpPr>
          <p:cNvPr id="4" name="Shape 2"/>
          <p:cNvSpPr/>
          <p:nvPr/>
        </p:nvSpPr>
        <p:spPr>
          <a:xfrm>
            <a:off x="7303770" y="1779151"/>
            <a:ext cx="22860" cy="5979795"/>
          </a:xfrm>
          <a:prstGeom prst="roundRect">
            <a:avLst>
              <a:gd name="adj" fmla="val 1120148"/>
            </a:avLst>
          </a:prstGeom>
          <a:solidFill>
            <a:srgbClr val="FFFFFF">
              <a:alpha val="24000"/>
            </a:srgbClr>
          </a:solidFill>
          <a:ln/>
        </p:spPr>
        <p:txBody>
          <a:bodyPr/>
          <a:lstStyle/>
          <a:p>
            <a:endParaRPr lang="ko-KR" altLang="en-US" sz="2800"/>
          </a:p>
        </p:txBody>
      </p:sp>
      <p:sp>
        <p:nvSpPr>
          <p:cNvPr id="5" name="Shape 3"/>
          <p:cNvSpPr/>
          <p:nvPr/>
        </p:nvSpPr>
        <p:spPr>
          <a:xfrm>
            <a:off x="6633924" y="1959769"/>
            <a:ext cx="512088" cy="22860"/>
          </a:xfrm>
          <a:prstGeom prst="roundRect">
            <a:avLst>
              <a:gd name="adj" fmla="val 1120148"/>
            </a:avLst>
          </a:prstGeom>
          <a:solidFill>
            <a:srgbClr val="F2B42D"/>
          </a:solidFill>
          <a:ln/>
        </p:spPr>
        <p:txBody>
          <a:bodyPr/>
          <a:lstStyle/>
          <a:p>
            <a:endParaRPr lang="ko-KR" altLang="en-US" sz="2800"/>
          </a:p>
        </p:txBody>
      </p:sp>
      <p:sp>
        <p:nvSpPr>
          <p:cNvPr id="6" name="Shape 4"/>
          <p:cNvSpPr/>
          <p:nvPr/>
        </p:nvSpPr>
        <p:spPr>
          <a:xfrm>
            <a:off x="7123152" y="1779151"/>
            <a:ext cx="384096" cy="384096"/>
          </a:xfrm>
          <a:prstGeom prst="roundRect">
            <a:avLst>
              <a:gd name="adj" fmla="val 66667"/>
            </a:avLst>
          </a:prstGeom>
          <a:solidFill>
            <a:srgbClr val="00002E"/>
          </a:solidFill>
          <a:ln w="15240">
            <a:solidFill>
              <a:srgbClr val="F2B42D"/>
            </a:solidFill>
            <a:prstDash val="solid"/>
          </a:ln>
        </p:spPr>
        <p:txBody>
          <a:bodyPr/>
          <a:lstStyle/>
          <a:p>
            <a:endParaRPr lang="ko-KR" altLang="en-US" sz="2800"/>
          </a:p>
        </p:txBody>
      </p:sp>
      <p:sp>
        <p:nvSpPr>
          <p:cNvPr id="7" name="Text 5"/>
          <p:cNvSpPr/>
          <p:nvPr/>
        </p:nvSpPr>
        <p:spPr>
          <a:xfrm>
            <a:off x="7210230" y="1925955"/>
            <a:ext cx="240983" cy="3012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1850"/>
              </a:lnSpc>
              <a:buNone/>
            </a:pPr>
            <a:r>
              <a:rPr lang="en-US" sz="2800" dirty="0">
                <a:solidFill>
                  <a:srgbClr val="FFFFFF"/>
                </a:solidFill>
                <a:latin typeface="Nunito Semi Bold" pitchFamily="34" charset="0"/>
                <a:ea typeface="Nunito Semi Bold" pitchFamily="34" charset="-122"/>
                <a:cs typeface="Nunito Semi Bold" pitchFamily="34" charset="-120"/>
              </a:rPr>
              <a:t>1</a:t>
            </a:r>
            <a:endParaRPr lang="en-US" sz="2800" dirty="0"/>
          </a:p>
        </p:txBody>
      </p:sp>
      <p:sp>
        <p:nvSpPr>
          <p:cNvPr id="8" name="Text 6"/>
          <p:cNvSpPr/>
          <p:nvPr/>
        </p:nvSpPr>
        <p:spPr>
          <a:xfrm>
            <a:off x="4453414" y="1837730"/>
            <a:ext cx="2008346" cy="2509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lnSpc>
                <a:spcPts val="1950"/>
              </a:lnSpc>
              <a:buNone/>
            </a:pPr>
            <a:r>
              <a:rPr lang="en-US" sz="2000" dirty="0">
                <a:solidFill>
                  <a:srgbClr val="FFFFFF"/>
                </a:solidFill>
                <a:latin typeface="Nunito Semi Bold" pitchFamily="34" charset="0"/>
                <a:ea typeface="Nunito Semi Bold" pitchFamily="34" charset="-122"/>
                <a:cs typeface="Nunito Semi Bold" pitchFamily="34" charset="-120"/>
              </a:rPr>
              <a:t>로그인 요청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597456" y="2191107"/>
            <a:ext cx="5864304" cy="27312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lnSpc>
                <a:spcPts val="2150"/>
              </a:lnSpc>
              <a:buNone/>
            </a:pPr>
            <a:r>
              <a:rPr lang="en-US" dirty="0">
                <a:solidFill>
                  <a:srgbClr val="FFFFFF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아이디와 비밀번호로 로그인</a:t>
            </a:r>
            <a:endParaRPr lang="en-US" dirty="0"/>
          </a:p>
        </p:txBody>
      </p:sp>
      <p:sp>
        <p:nvSpPr>
          <p:cNvPr id="10" name="Shape 8"/>
          <p:cNvSpPr/>
          <p:nvPr/>
        </p:nvSpPr>
        <p:spPr>
          <a:xfrm>
            <a:off x="7484388" y="2983944"/>
            <a:ext cx="512088" cy="22860"/>
          </a:xfrm>
          <a:prstGeom prst="roundRect">
            <a:avLst>
              <a:gd name="adj" fmla="val 1120148"/>
            </a:avLst>
          </a:prstGeom>
          <a:solidFill>
            <a:srgbClr val="D7425E"/>
          </a:solidFill>
          <a:ln/>
        </p:spPr>
        <p:txBody>
          <a:bodyPr/>
          <a:lstStyle/>
          <a:p>
            <a:endParaRPr lang="ko-KR" altLang="en-US" sz="2800"/>
          </a:p>
        </p:txBody>
      </p:sp>
      <p:sp>
        <p:nvSpPr>
          <p:cNvPr id="11" name="Shape 9"/>
          <p:cNvSpPr/>
          <p:nvPr/>
        </p:nvSpPr>
        <p:spPr>
          <a:xfrm>
            <a:off x="7123152" y="2803327"/>
            <a:ext cx="384096" cy="384096"/>
          </a:xfrm>
          <a:prstGeom prst="roundRect">
            <a:avLst>
              <a:gd name="adj" fmla="val 66667"/>
            </a:avLst>
          </a:prstGeom>
          <a:solidFill>
            <a:srgbClr val="00002E"/>
          </a:solidFill>
          <a:ln w="15240">
            <a:solidFill>
              <a:srgbClr val="D7425E"/>
            </a:solidFill>
            <a:prstDash val="solid"/>
          </a:ln>
        </p:spPr>
        <p:txBody>
          <a:bodyPr/>
          <a:lstStyle/>
          <a:p>
            <a:endParaRPr lang="ko-KR" altLang="en-US" sz="2800"/>
          </a:p>
        </p:txBody>
      </p:sp>
      <p:sp>
        <p:nvSpPr>
          <p:cNvPr id="12" name="Text 10"/>
          <p:cNvSpPr/>
          <p:nvPr/>
        </p:nvSpPr>
        <p:spPr>
          <a:xfrm>
            <a:off x="7194709" y="2936650"/>
            <a:ext cx="240983" cy="3012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1850"/>
              </a:lnSpc>
              <a:buNone/>
            </a:pPr>
            <a:r>
              <a:rPr lang="en-US" sz="2800" dirty="0">
                <a:solidFill>
                  <a:srgbClr val="FFFFFF"/>
                </a:solidFill>
                <a:latin typeface="Nunito Semi Bold" pitchFamily="34" charset="0"/>
                <a:ea typeface="Nunito Semi Bold" pitchFamily="34" charset="-122"/>
                <a:cs typeface="Nunito Semi Bold" pitchFamily="34" charset="-120"/>
              </a:rPr>
              <a:t>2</a:t>
            </a:r>
            <a:endParaRPr lang="en-US" sz="2800" dirty="0"/>
          </a:p>
        </p:txBody>
      </p:sp>
      <p:sp>
        <p:nvSpPr>
          <p:cNvPr id="13" name="Text 11"/>
          <p:cNvSpPr/>
          <p:nvPr/>
        </p:nvSpPr>
        <p:spPr>
          <a:xfrm>
            <a:off x="8168640" y="2861905"/>
            <a:ext cx="2008346" cy="2509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2000" dirty="0">
                <a:solidFill>
                  <a:srgbClr val="FFFFFF"/>
                </a:solidFill>
                <a:latin typeface="Nunito Semi Bold" pitchFamily="34" charset="0"/>
                <a:ea typeface="Nunito Semi Bold" pitchFamily="34" charset="-122"/>
                <a:cs typeface="Nunito Semi Bold" pitchFamily="34" charset="-120"/>
              </a:rPr>
              <a:t>정보 검증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8168640" y="3215283"/>
            <a:ext cx="5864304" cy="27312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50"/>
              </a:lnSpc>
              <a:buNone/>
            </a:pPr>
            <a:r>
              <a:rPr lang="en-US" dirty="0">
                <a:solidFill>
                  <a:srgbClr val="FFFFFF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서버에서 사용자 정보 확인</a:t>
            </a:r>
            <a:endParaRPr lang="en-US" dirty="0"/>
          </a:p>
        </p:txBody>
      </p:sp>
      <p:sp>
        <p:nvSpPr>
          <p:cNvPr id="15" name="Shape 13"/>
          <p:cNvSpPr/>
          <p:nvPr/>
        </p:nvSpPr>
        <p:spPr>
          <a:xfrm>
            <a:off x="6633924" y="3866674"/>
            <a:ext cx="512088" cy="22860"/>
          </a:xfrm>
          <a:prstGeom prst="roundRect">
            <a:avLst>
              <a:gd name="adj" fmla="val 1120148"/>
            </a:avLst>
          </a:prstGeom>
          <a:solidFill>
            <a:srgbClr val="DD785E"/>
          </a:solidFill>
          <a:ln/>
        </p:spPr>
        <p:txBody>
          <a:bodyPr/>
          <a:lstStyle/>
          <a:p>
            <a:endParaRPr lang="ko-KR" altLang="en-US" sz="2800"/>
          </a:p>
        </p:txBody>
      </p:sp>
      <p:sp>
        <p:nvSpPr>
          <p:cNvPr id="16" name="Shape 14"/>
          <p:cNvSpPr/>
          <p:nvPr/>
        </p:nvSpPr>
        <p:spPr>
          <a:xfrm>
            <a:off x="7123152" y="3686056"/>
            <a:ext cx="384096" cy="384096"/>
          </a:xfrm>
          <a:prstGeom prst="roundRect">
            <a:avLst>
              <a:gd name="adj" fmla="val 66667"/>
            </a:avLst>
          </a:prstGeom>
          <a:solidFill>
            <a:srgbClr val="00002E"/>
          </a:solidFill>
          <a:ln w="15240">
            <a:solidFill>
              <a:srgbClr val="DD785E"/>
            </a:solidFill>
            <a:prstDash val="solid"/>
          </a:ln>
        </p:spPr>
        <p:txBody>
          <a:bodyPr/>
          <a:lstStyle/>
          <a:p>
            <a:endParaRPr lang="ko-KR" altLang="en-US" sz="2800"/>
          </a:p>
        </p:txBody>
      </p:sp>
      <p:sp>
        <p:nvSpPr>
          <p:cNvPr id="17" name="Text 15"/>
          <p:cNvSpPr/>
          <p:nvPr/>
        </p:nvSpPr>
        <p:spPr>
          <a:xfrm>
            <a:off x="7206138" y="3837197"/>
            <a:ext cx="240983" cy="3012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1850"/>
              </a:lnSpc>
              <a:buNone/>
            </a:pPr>
            <a:r>
              <a:rPr lang="en-US" sz="2800" dirty="0">
                <a:solidFill>
                  <a:srgbClr val="FFFFFF"/>
                </a:solidFill>
                <a:latin typeface="Nunito Semi Bold" pitchFamily="34" charset="0"/>
                <a:ea typeface="Nunito Semi Bold" pitchFamily="34" charset="-122"/>
                <a:cs typeface="Nunito Semi Bold" pitchFamily="34" charset="-120"/>
              </a:rPr>
              <a:t>3</a:t>
            </a:r>
            <a:endParaRPr lang="en-US" sz="2800" dirty="0"/>
          </a:p>
        </p:txBody>
      </p:sp>
      <p:sp>
        <p:nvSpPr>
          <p:cNvPr id="18" name="Text 16"/>
          <p:cNvSpPr/>
          <p:nvPr/>
        </p:nvSpPr>
        <p:spPr>
          <a:xfrm>
            <a:off x="4453414" y="3744635"/>
            <a:ext cx="2008346" cy="2509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lnSpc>
                <a:spcPts val="1950"/>
              </a:lnSpc>
              <a:buNone/>
            </a:pPr>
            <a:r>
              <a:rPr lang="en-US" sz="2000" dirty="0">
                <a:solidFill>
                  <a:srgbClr val="FFFFFF"/>
                </a:solidFill>
                <a:latin typeface="Nunito Semi Bold" pitchFamily="34" charset="0"/>
                <a:ea typeface="Nunito Semi Bold" pitchFamily="34" charset="-122"/>
                <a:cs typeface="Nunito Semi Bold" pitchFamily="34" charset="-120"/>
              </a:rPr>
              <a:t>토큰 발급</a:t>
            </a:r>
            <a:endParaRPr lang="en-US" sz="2000" dirty="0"/>
          </a:p>
        </p:txBody>
      </p:sp>
      <p:sp>
        <p:nvSpPr>
          <p:cNvPr id="19" name="Text 17"/>
          <p:cNvSpPr/>
          <p:nvPr/>
        </p:nvSpPr>
        <p:spPr>
          <a:xfrm>
            <a:off x="597456" y="4098012"/>
            <a:ext cx="5864304" cy="27312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lnSpc>
                <a:spcPts val="2150"/>
              </a:lnSpc>
              <a:buNone/>
            </a:pPr>
            <a:r>
              <a:rPr lang="en-US" dirty="0" err="1">
                <a:solidFill>
                  <a:srgbClr val="FFFFFF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토큰을</a:t>
            </a:r>
            <a:r>
              <a:rPr lang="en-US" dirty="0">
                <a:solidFill>
                  <a:srgbClr val="FFFFFF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 클라이언트에 전달</a:t>
            </a:r>
            <a:endParaRPr lang="en-US" dirty="0"/>
          </a:p>
        </p:txBody>
      </p:sp>
      <p:sp>
        <p:nvSpPr>
          <p:cNvPr id="20" name="Shape 18"/>
          <p:cNvSpPr/>
          <p:nvPr/>
        </p:nvSpPr>
        <p:spPr>
          <a:xfrm>
            <a:off x="7484388" y="4749522"/>
            <a:ext cx="512088" cy="22860"/>
          </a:xfrm>
          <a:prstGeom prst="roundRect">
            <a:avLst>
              <a:gd name="adj" fmla="val 1120148"/>
            </a:avLst>
          </a:prstGeom>
          <a:solidFill>
            <a:srgbClr val="48A8E2"/>
          </a:solidFill>
          <a:ln/>
        </p:spPr>
        <p:txBody>
          <a:bodyPr/>
          <a:lstStyle/>
          <a:p>
            <a:endParaRPr lang="ko-KR" altLang="en-US" sz="2800"/>
          </a:p>
        </p:txBody>
      </p:sp>
      <p:sp>
        <p:nvSpPr>
          <p:cNvPr id="21" name="Shape 19"/>
          <p:cNvSpPr/>
          <p:nvPr/>
        </p:nvSpPr>
        <p:spPr>
          <a:xfrm>
            <a:off x="7123152" y="4568904"/>
            <a:ext cx="384096" cy="384096"/>
          </a:xfrm>
          <a:prstGeom prst="roundRect">
            <a:avLst>
              <a:gd name="adj" fmla="val 66667"/>
            </a:avLst>
          </a:prstGeom>
          <a:solidFill>
            <a:srgbClr val="00002E"/>
          </a:solidFill>
          <a:ln w="15240">
            <a:solidFill>
              <a:srgbClr val="48A8E2"/>
            </a:solidFill>
            <a:prstDash val="solid"/>
          </a:ln>
        </p:spPr>
        <p:txBody>
          <a:bodyPr/>
          <a:lstStyle/>
          <a:p>
            <a:endParaRPr lang="ko-KR" altLang="en-US" sz="2800"/>
          </a:p>
        </p:txBody>
      </p:sp>
      <p:sp>
        <p:nvSpPr>
          <p:cNvPr id="22" name="Text 20"/>
          <p:cNvSpPr/>
          <p:nvPr/>
        </p:nvSpPr>
        <p:spPr>
          <a:xfrm>
            <a:off x="7183556" y="4693206"/>
            <a:ext cx="240983" cy="3012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1850"/>
              </a:lnSpc>
              <a:buNone/>
            </a:pPr>
            <a:r>
              <a:rPr lang="en-US" sz="2800" dirty="0">
                <a:solidFill>
                  <a:srgbClr val="FFFFFF"/>
                </a:solidFill>
                <a:latin typeface="Nunito Semi Bold" pitchFamily="34" charset="0"/>
                <a:ea typeface="Nunito Semi Bold" pitchFamily="34" charset="-122"/>
                <a:cs typeface="Nunito Semi Bold" pitchFamily="34" charset="-120"/>
              </a:rPr>
              <a:t>4</a:t>
            </a:r>
            <a:endParaRPr lang="en-US" sz="2800" dirty="0"/>
          </a:p>
        </p:txBody>
      </p:sp>
      <p:sp>
        <p:nvSpPr>
          <p:cNvPr id="23" name="Text 21"/>
          <p:cNvSpPr/>
          <p:nvPr/>
        </p:nvSpPr>
        <p:spPr>
          <a:xfrm>
            <a:off x="8168640" y="4627483"/>
            <a:ext cx="2008346" cy="2509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2000" dirty="0">
                <a:solidFill>
                  <a:srgbClr val="FFFFFF"/>
                </a:solidFill>
                <a:latin typeface="Nunito Semi Bold" pitchFamily="34" charset="0"/>
                <a:ea typeface="Nunito Semi Bold" pitchFamily="34" charset="-122"/>
                <a:cs typeface="Nunito Semi Bold" pitchFamily="34" charset="-120"/>
              </a:rPr>
              <a:t>토큰 저장</a:t>
            </a:r>
            <a:endParaRPr lang="en-US" sz="2000" dirty="0"/>
          </a:p>
        </p:txBody>
      </p:sp>
      <p:sp>
        <p:nvSpPr>
          <p:cNvPr id="24" name="Text 22"/>
          <p:cNvSpPr/>
          <p:nvPr/>
        </p:nvSpPr>
        <p:spPr>
          <a:xfrm>
            <a:off x="8168640" y="4980861"/>
            <a:ext cx="5864304" cy="27312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50"/>
              </a:lnSpc>
              <a:buNone/>
            </a:pPr>
            <a:r>
              <a:rPr lang="en-US" dirty="0">
                <a:solidFill>
                  <a:srgbClr val="FFFFFF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클라이언트가 토큰 저장</a:t>
            </a:r>
            <a:endParaRPr lang="en-US" dirty="0"/>
          </a:p>
        </p:txBody>
      </p:sp>
      <p:sp>
        <p:nvSpPr>
          <p:cNvPr id="25" name="Shape 23"/>
          <p:cNvSpPr/>
          <p:nvPr/>
        </p:nvSpPr>
        <p:spPr>
          <a:xfrm>
            <a:off x="6633924" y="5632371"/>
            <a:ext cx="512088" cy="22860"/>
          </a:xfrm>
          <a:prstGeom prst="roundRect">
            <a:avLst>
              <a:gd name="adj" fmla="val 1120148"/>
            </a:avLst>
          </a:prstGeom>
          <a:solidFill>
            <a:srgbClr val="59ABA9"/>
          </a:solidFill>
          <a:ln/>
        </p:spPr>
        <p:txBody>
          <a:bodyPr/>
          <a:lstStyle/>
          <a:p>
            <a:endParaRPr lang="ko-KR" altLang="en-US" sz="2800"/>
          </a:p>
        </p:txBody>
      </p:sp>
      <p:sp>
        <p:nvSpPr>
          <p:cNvPr id="26" name="Shape 24"/>
          <p:cNvSpPr/>
          <p:nvPr/>
        </p:nvSpPr>
        <p:spPr>
          <a:xfrm>
            <a:off x="7123152" y="5451753"/>
            <a:ext cx="384096" cy="384096"/>
          </a:xfrm>
          <a:prstGeom prst="roundRect">
            <a:avLst>
              <a:gd name="adj" fmla="val 66667"/>
            </a:avLst>
          </a:prstGeom>
          <a:solidFill>
            <a:srgbClr val="00002E"/>
          </a:solidFill>
          <a:ln w="15240">
            <a:solidFill>
              <a:srgbClr val="59ABA9"/>
            </a:solidFill>
            <a:prstDash val="solid"/>
          </a:ln>
        </p:spPr>
        <p:txBody>
          <a:bodyPr/>
          <a:lstStyle/>
          <a:p>
            <a:endParaRPr lang="ko-KR" altLang="en-US" sz="2800"/>
          </a:p>
        </p:txBody>
      </p:sp>
      <p:sp>
        <p:nvSpPr>
          <p:cNvPr id="27" name="Text 25"/>
          <p:cNvSpPr/>
          <p:nvPr/>
        </p:nvSpPr>
        <p:spPr>
          <a:xfrm>
            <a:off x="7194709" y="5587915"/>
            <a:ext cx="240983" cy="3012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1850"/>
              </a:lnSpc>
              <a:buNone/>
            </a:pPr>
            <a:r>
              <a:rPr lang="en-US" sz="2800" dirty="0">
                <a:solidFill>
                  <a:srgbClr val="FFFFFF"/>
                </a:solidFill>
                <a:latin typeface="Nunito Semi Bold" pitchFamily="34" charset="0"/>
                <a:ea typeface="Nunito Semi Bold" pitchFamily="34" charset="-122"/>
                <a:cs typeface="Nunito Semi Bold" pitchFamily="34" charset="-120"/>
              </a:rPr>
              <a:t>5</a:t>
            </a:r>
            <a:endParaRPr lang="en-US" sz="2800" dirty="0"/>
          </a:p>
        </p:txBody>
      </p:sp>
      <p:sp>
        <p:nvSpPr>
          <p:cNvPr id="28" name="Text 26"/>
          <p:cNvSpPr/>
          <p:nvPr/>
        </p:nvSpPr>
        <p:spPr>
          <a:xfrm>
            <a:off x="4453414" y="5510332"/>
            <a:ext cx="2008346" cy="2509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lnSpc>
                <a:spcPts val="1950"/>
              </a:lnSpc>
              <a:buNone/>
            </a:pPr>
            <a:r>
              <a:rPr lang="en-US" sz="2000" dirty="0">
                <a:solidFill>
                  <a:srgbClr val="FFFFFF"/>
                </a:solidFill>
                <a:latin typeface="Nunito Semi Bold" pitchFamily="34" charset="0"/>
                <a:ea typeface="Nunito Semi Bold" pitchFamily="34" charset="-122"/>
                <a:cs typeface="Nunito Semi Bold" pitchFamily="34" charset="-120"/>
              </a:rPr>
              <a:t>요청 시 전송</a:t>
            </a:r>
            <a:endParaRPr lang="en-US" sz="2000" dirty="0"/>
          </a:p>
        </p:txBody>
      </p:sp>
      <p:sp>
        <p:nvSpPr>
          <p:cNvPr id="29" name="Text 27"/>
          <p:cNvSpPr/>
          <p:nvPr/>
        </p:nvSpPr>
        <p:spPr>
          <a:xfrm>
            <a:off x="597456" y="5863709"/>
            <a:ext cx="5864304" cy="27312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lnSpc>
                <a:spcPts val="2150"/>
              </a:lnSpc>
              <a:buNone/>
            </a:pPr>
            <a:r>
              <a:rPr lang="en-US" dirty="0">
                <a:solidFill>
                  <a:srgbClr val="FFFFFF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HTTP 헤더에 토큰 포함</a:t>
            </a:r>
            <a:endParaRPr lang="en-US" dirty="0"/>
          </a:p>
        </p:txBody>
      </p:sp>
      <p:sp>
        <p:nvSpPr>
          <p:cNvPr id="30" name="Shape 28"/>
          <p:cNvSpPr/>
          <p:nvPr/>
        </p:nvSpPr>
        <p:spPr>
          <a:xfrm>
            <a:off x="7484388" y="6515219"/>
            <a:ext cx="512088" cy="22860"/>
          </a:xfrm>
          <a:prstGeom prst="roundRect">
            <a:avLst>
              <a:gd name="adj" fmla="val 1120148"/>
            </a:avLst>
          </a:prstGeom>
          <a:solidFill>
            <a:srgbClr val="F2B42D"/>
          </a:solidFill>
          <a:ln/>
        </p:spPr>
        <p:txBody>
          <a:bodyPr/>
          <a:lstStyle/>
          <a:p>
            <a:endParaRPr lang="ko-KR" altLang="en-US" sz="2800"/>
          </a:p>
        </p:txBody>
      </p:sp>
      <p:sp>
        <p:nvSpPr>
          <p:cNvPr id="31" name="Shape 29"/>
          <p:cNvSpPr/>
          <p:nvPr/>
        </p:nvSpPr>
        <p:spPr>
          <a:xfrm>
            <a:off x="7123152" y="6334601"/>
            <a:ext cx="384096" cy="384096"/>
          </a:xfrm>
          <a:prstGeom prst="roundRect">
            <a:avLst>
              <a:gd name="adj" fmla="val 66667"/>
            </a:avLst>
          </a:prstGeom>
          <a:solidFill>
            <a:srgbClr val="00002E"/>
          </a:solidFill>
          <a:ln w="15240">
            <a:solidFill>
              <a:srgbClr val="F2B42D"/>
            </a:solidFill>
            <a:prstDash val="solid"/>
          </a:ln>
        </p:spPr>
        <p:txBody>
          <a:bodyPr/>
          <a:lstStyle/>
          <a:p>
            <a:endParaRPr lang="ko-KR" altLang="en-US" sz="2800"/>
          </a:p>
        </p:txBody>
      </p:sp>
      <p:sp>
        <p:nvSpPr>
          <p:cNvPr id="32" name="Text 30"/>
          <p:cNvSpPr/>
          <p:nvPr/>
        </p:nvSpPr>
        <p:spPr>
          <a:xfrm>
            <a:off x="7183556" y="6493550"/>
            <a:ext cx="240983" cy="3012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1850"/>
              </a:lnSpc>
              <a:buNone/>
            </a:pPr>
            <a:r>
              <a:rPr lang="en-US" sz="2800" dirty="0">
                <a:solidFill>
                  <a:srgbClr val="FFFFFF"/>
                </a:solidFill>
                <a:latin typeface="Nunito Semi Bold" pitchFamily="34" charset="0"/>
                <a:ea typeface="Nunito Semi Bold" pitchFamily="34" charset="-122"/>
                <a:cs typeface="Nunito Semi Bold" pitchFamily="34" charset="-120"/>
              </a:rPr>
              <a:t>6</a:t>
            </a:r>
            <a:endParaRPr lang="en-US" sz="2800" dirty="0"/>
          </a:p>
        </p:txBody>
      </p:sp>
      <p:sp>
        <p:nvSpPr>
          <p:cNvPr id="33" name="Text 31"/>
          <p:cNvSpPr/>
          <p:nvPr/>
        </p:nvSpPr>
        <p:spPr>
          <a:xfrm>
            <a:off x="8168640" y="6393180"/>
            <a:ext cx="2008346" cy="2509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2000" dirty="0">
                <a:solidFill>
                  <a:srgbClr val="FFFFFF"/>
                </a:solidFill>
                <a:latin typeface="Nunito Semi Bold" pitchFamily="34" charset="0"/>
                <a:ea typeface="Nunito Semi Bold" pitchFamily="34" charset="-122"/>
                <a:cs typeface="Nunito Semi Bold" pitchFamily="34" charset="-120"/>
              </a:rPr>
              <a:t>검증 및 응답</a:t>
            </a:r>
            <a:endParaRPr lang="en-US" sz="2000" dirty="0"/>
          </a:p>
        </p:txBody>
      </p:sp>
      <p:sp>
        <p:nvSpPr>
          <p:cNvPr id="34" name="Text 32"/>
          <p:cNvSpPr/>
          <p:nvPr/>
        </p:nvSpPr>
        <p:spPr>
          <a:xfrm>
            <a:off x="8168640" y="6746558"/>
            <a:ext cx="5864304" cy="27312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50"/>
              </a:lnSpc>
              <a:buNone/>
            </a:pPr>
            <a:r>
              <a:rPr lang="en-US" dirty="0">
                <a:solidFill>
                  <a:srgbClr val="FFFFFF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서버가 토큰 검증 후 응답</a:t>
            </a:r>
            <a:endParaRPr lang="en-US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5B8358F-FDA3-1912-F85F-3DC30D0684C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99964710-560C-8D7B-D0DE-97EB8D245A7C}"/>
              </a:ext>
            </a:extLst>
          </p:cNvPr>
          <p:cNvSpPr/>
          <p:nvPr/>
        </p:nvSpPr>
        <p:spPr>
          <a:xfrm>
            <a:off x="597456" y="470535"/>
            <a:ext cx="4016693" cy="5020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950"/>
              </a:lnSpc>
              <a:buNone/>
            </a:pPr>
            <a:r>
              <a:rPr lang="en-US" sz="3150" dirty="0" err="1">
                <a:solidFill>
                  <a:srgbClr val="FFFFFF"/>
                </a:solidFill>
                <a:latin typeface="Nunito Semi Bold" pitchFamily="34" charset="0"/>
                <a:ea typeface="Nunito Semi Bold" pitchFamily="34" charset="-122"/>
                <a:cs typeface="Nunito Semi Bold" pitchFamily="34" charset="-120"/>
              </a:rPr>
              <a:t>토큰</a:t>
            </a:r>
            <a:r>
              <a:rPr lang="en-US" sz="3150" dirty="0">
                <a:solidFill>
                  <a:srgbClr val="FFFFFF"/>
                </a:solidFill>
                <a:latin typeface="Nunito Semi Bold" pitchFamily="34" charset="0"/>
                <a:ea typeface="Nunito Semi Bold" pitchFamily="34" charset="-122"/>
                <a:cs typeface="Nunito Semi Bold" pitchFamily="34" charset="-120"/>
              </a:rPr>
              <a:t>(Token) 기반 인증</a:t>
            </a:r>
            <a:endParaRPr lang="en-US" sz="3150" dirty="0"/>
          </a:p>
        </p:txBody>
      </p:sp>
      <p:pic>
        <p:nvPicPr>
          <p:cNvPr id="6146" name="Picture 2">
            <a:extLst>
              <a:ext uri="{FF2B5EF4-FFF2-40B4-BE49-F238E27FC236}">
                <a16:creationId xmlns:a16="http://schemas.microsoft.com/office/drawing/2014/main" id="{3EA482A2-2C92-9513-F15C-6B5A286A057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16566" y="1357665"/>
            <a:ext cx="11597268" cy="64014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84380420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37724" y="1317069"/>
            <a:ext cx="5632490" cy="70401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00"/>
              </a:lnSpc>
              <a:buNone/>
            </a:pPr>
            <a:r>
              <a:rPr lang="en-US" sz="4400" dirty="0">
                <a:solidFill>
                  <a:srgbClr val="FFFFFF"/>
                </a:solidFill>
                <a:latin typeface="Nunito Semi Bold" pitchFamily="34" charset="0"/>
                <a:ea typeface="Nunito Semi Bold" pitchFamily="34" charset="-122"/>
                <a:cs typeface="Nunito Semi Bold" pitchFamily="34" charset="-120"/>
              </a:rPr>
              <a:t>토큰 방식의 주요 장점</a:t>
            </a:r>
            <a:endParaRPr lang="en-US" sz="4400" dirty="0"/>
          </a:p>
        </p:txBody>
      </p:sp>
      <p:sp>
        <p:nvSpPr>
          <p:cNvPr id="3" name="Shape 1"/>
          <p:cNvSpPr/>
          <p:nvPr/>
        </p:nvSpPr>
        <p:spPr>
          <a:xfrm>
            <a:off x="837724" y="2499836"/>
            <a:ext cx="4158734" cy="3126343"/>
          </a:xfrm>
          <a:prstGeom prst="roundRect">
            <a:avLst>
              <a:gd name="adj" fmla="val 11485"/>
            </a:avLst>
          </a:prstGeom>
          <a:solidFill>
            <a:srgbClr val="00002E"/>
          </a:solidFill>
          <a:ln w="22860">
            <a:solidFill>
              <a:srgbClr val="F2B42D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" name="Shape 2"/>
          <p:cNvSpPr/>
          <p:nvPr/>
        </p:nvSpPr>
        <p:spPr>
          <a:xfrm>
            <a:off x="1099899" y="2762012"/>
            <a:ext cx="718066" cy="718066"/>
          </a:xfrm>
          <a:prstGeom prst="roundRect">
            <a:avLst>
              <a:gd name="adj" fmla="val 12732932"/>
            </a:avLst>
          </a:prstGeom>
          <a:solidFill>
            <a:srgbClr val="F2B42D"/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297305" y="2959417"/>
            <a:ext cx="323136" cy="323136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099899" y="3719393"/>
            <a:ext cx="2816185" cy="3519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FFFFFF"/>
                </a:solidFill>
                <a:latin typeface="Nunito Semi Bold" pitchFamily="34" charset="0"/>
                <a:ea typeface="Nunito Semi Bold" pitchFamily="34" charset="-122"/>
                <a:cs typeface="Nunito Semi Bold" pitchFamily="34" charset="-120"/>
              </a:rPr>
              <a:t>무상태성 &amp; 확장성</a:t>
            </a:r>
            <a:endParaRPr lang="en-US" sz="2200" dirty="0"/>
          </a:p>
        </p:txBody>
      </p:sp>
      <p:sp>
        <p:nvSpPr>
          <p:cNvPr id="7" name="Text 4"/>
          <p:cNvSpPr/>
          <p:nvPr/>
        </p:nvSpPr>
        <p:spPr>
          <a:xfrm>
            <a:off x="1099899" y="4214932"/>
            <a:ext cx="3634383" cy="11490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000"/>
              </a:lnSpc>
              <a:buNone/>
            </a:pPr>
            <a:r>
              <a:rPr lang="en-US" sz="1850" dirty="0">
                <a:solidFill>
                  <a:srgbClr val="FFFFFF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클라이언트에 토큰 저장으로 </a:t>
            </a:r>
            <a:r>
              <a:rPr lang="en-US" sz="1850" dirty="0" err="1">
                <a:solidFill>
                  <a:srgbClr val="FFFFFF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서버는</a:t>
            </a:r>
            <a:r>
              <a:rPr lang="en-US" sz="1850" dirty="0">
                <a:solidFill>
                  <a:srgbClr val="FFFFFF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  Stateless </a:t>
            </a:r>
            <a:r>
              <a:rPr lang="ko-KR" altLang="en-US" sz="1850" dirty="0">
                <a:solidFill>
                  <a:srgbClr val="FFFFFF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합니다</a:t>
            </a:r>
            <a:r>
              <a:rPr lang="en-US" sz="1850" dirty="0">
                <a:solidFill>
                  <a:srgbClr val="FFFFFF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. 분산 처리 환경에서 어느 서버로도 </a:t>
            </a:r>
            <a:r>
              <a:rPr lang="en-US" sz="1850" dirty="0" err="1">
                <a:solidFill>
                  <a:srgbClr val="FFFFFF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요청</a:t>
            </a:r>
            <a:r>
              <a:rPr lang="en-US" sz="1850" dirty="0">
                <a:solidFill>
                  <a:srgbClr val="FFFFFF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 </a:t>
            </a:r>
            <a:r>
              <a:rPr lang="en-US" sz="1850" dirty="0" err="1">
                <a:solidFill>
                  <a:srgbClr val="FFFFFF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가능</a:t>
            </a:r>
            <a:r>
              <a:rPr lang="ko-KR" altLang="en-US" sz="1850" dirty="0">
                <a:solidFill>
                  <a:srgbClr val="FFFFFF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합니다</a:t>
            </a:r>
            <a:r>
              <a:rPr lang="en-US" altLang="ko-KR" sz="1850" dirty="0">
                <a:solidFill>
                  <a:srgbClr val="FFFFFF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.</a:t>
            </a:r>
            <a:endParaRPr lang="en-US" sz="1850" dirty="0"/>
          </a:p>
        </p:txBody>
      </p:sp>
      <p:sp>
        <p:nvSpPr>
          <p:cNvPr id="8" name="Shape 5"/>
          <p:cNvSpPr/>
          <p:nvPr/>
        </p:nvSpPr>
        <p:spPr>
          <a:xfrm>
            <a:off x="5235773" y="2499836"/>
            <a:ext cx="4158734" cy="3126343"/>
          </a:xfrm>
          <a:prstGeom prst="roundRect">
            <a:avLst>
              <a:gd name="adj" fmla="val 11485"/>
            </a:avLst>
          </a:prstGeom>
          <a:solidFill>
            <a:srgbClr val="00002E"/>
          </a:solidFill>
          <a:ln w="22860">
            <a:solidFill>
              <a:srgbClr val="48A8E2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9" name="Shape 6"/>
          <p:cNvSpPr/>
          <p:nvPr/>
        </p:nvSpPr>
        <p:spPr>
          <a:xfrm>
            <a:off x="5497949" y="2762012"/>
            <a:ext cx="718066" cy="718066"/>
          </a:xfrm>
          <a:prstGeom prst="roundRect">
            <a:avLst>
              <a:gd name="adj" fmla="val 12732932"/>
            </a:avLst>
          </a:prstGeom>
          <a:solidFill>
            <a:srgbClr val="48A8E2"/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5695355" y="2959417"/>
            <a:ext cx="323136" cy="323136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5497949" y="3719393"/>
            <a:ext cx="2816185" cy="3519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FFFFFF"/>
                </a:solidFill>
                <a:latin typeface="Nunito Semi Bold" pitchFamily="34" charset="0"/>
                <a:ea typeface="Nunito Semi Bold" pitchFamily="34" charset="-122"/>
                <a:cs typeface="Nunito Semi Bold" pitchFamily="34" charset="-120"/>
              </a:rPr>
              <a:t>보안성 향상</a:t>
            </a:r>
            <a:endParaRPr lang="en-US" sz="2200" dirty="0"/>
          </a:p>
        </p:txBody>
      </p:sp>
      <p:sp>
        <p:nvSpPr>
          <p:cNvPr id="12" name="Text 8"/>
          <p:cNvSpPr/>
          <p:nvPr/>
        </p:nvSpPr>
        <p:spPr>
          <a:xfrm>
            <a:off x="5497949" y="4214932"/>
            <a:ext cx="3634383" cy="11490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000"/>
              </a:lnSpc>
              <a:buNone/>
            </a:pPr>
            <a:r>
              <a:rPr lang="en-US" sz="1850" dirty="0">
                <a:solidFill>
                  <a:srgbClr val="FFFFFF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쿠키를 전달하지 않아 </a:t>
            </a:r>
            <a:r>
              <a:rPr lang="en-US" sz="1850" dirty="0" err="1">
                <a:solidFill>
                  <a:srgbClr val="FFFFFF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쿠키</a:t>
            </a:r>
            <a:r>
              <a:rPr lang="en-US" sz="1850" dirty="0">
                <a:solidFill>
                  <a:srgbClr val="FFFFFF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 </a:t>
            </a:r>
            <a:r>
              <a:rPr lang="en-US" sz="1850" dirty="0" err="1">
                <a:solidFill>
                  <a:srgbClr val="FFFFFF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관련</a:t>
            </a:r>
            <a:r>
              <a:rPr lang="en-US" sz="1850" dirty="0">
                <a:solidFill>
                  <a:srgbClr val="FFFFFF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 </a:t>
            </a:r>
            <a:r>
              <a:rPr lang="en-US" sz="1850" dirty="0" err="1">
                <a:solidFill>
                  <a:srgbClr val="FFFFFF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취약점</a:t>
            </a:r>
            <a:r>
              <a:rPr lang="ko-KR" altLang="en-US" sz="1850" dirty="0">
                <a:solidFill>
                  <a:srgbClr val="FFFFFF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을 제거합니다</a:t>
            </a:r>
            <a:r>
              <a:rPr lang="en-US" altLang="ko-KR" sz="1850" dirty="0">
                <a:solidFill>
                  <a:srgbClr val="FFFFFF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.</a:t>
            </a:r>
            <a:endParaRPr lang="en-US" sz="1850" dirty="0"/>
          </a:p>
        </p:txBody>
      </p:sp>
      <p:sp>
        <p:nvSpPr>
          <p:cNvPr id="13" name="Shape 9"/>
          <p:cNvSpPr/>
          <p:nvPr/>
        </p:nvSpPr>
        <p:spPr>
          <a:xfrm>
            <a:off x="9633823" y="2499836"/>
            <a:ext cx="4158853" cy="3126343"/>
          </a:xfrm>
          <a:prstGeom prst="roundRect">
            <a:avLst>
              <a:gd name="adj" fmla="val 11485"/>
            </a:avLst>
          </a:prstGeom>
          <a:solidFill>
            <a:srgbClr val="00002E"/>
          </a:solidFill>
          <a:ln w="22860">
            <a:solidFill>
              <a:srgbClr val="59ABA9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4" name="Shape 10"/>
          <p:cNvSpPr/>
          <p:nvPr/>
        </p:nvSpPr>
        <p:spPr>
          <a:xfrm>
            <a:off x="9895999" y="2762012"/>
            <a:ext cx="718066" cy="718066"/>
          </a:xfrm>
          <a:prstGeom prst="roundRect">
            <a:avLst>
              <a:gd name="adj" fmla="val 12732932"/>
            </a:avLst>
          </a:prstGeom>
          <a:solidFill>
            <a:srgbClr val="59ABA9"/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15" name="Image 2" descr="preencoded.png"/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10093404" y="2959417"/>
            <a:ext cx="323136" cy="323136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9895999" y="3719393"/>
            <a:ext cx="2816185" cy="3519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FFFFFF"/>
                </a:solidFill>
                <a:latin typeface="Nunito Semi Bold" pitchFamily="34" charset="0"/>
                <a:ea typeface="Nunito Semi Bold" pitchFamily="34" charset="-122"/>
                <a:cs typeface="Nunito Semi Bold" pitchFamily="34" charset="-120"/>
              </a:rPr>
              <a:t>다중 플랫폼 지원</a:t>
            </a:r>
            <a:endParaRPr lang="en-US" sz="2200" dirty="0"/>
          </a:p>
        </p:txBody>
      </p:sp>
      <p:sp>
        <p:nvSpPr>
          <p:cNvPr id="17" name="Text 12"/>
          <p:cNvSpPr/>
          <p:nvPr/>
        </p:nvSpPr>
        <p:spPr>
          <a:xfrm>
            <a:off x="9895999" y="4214932"/>
            <a:ext cx="3657362" cy="766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3000"/>
              </a:lnSpc>
            </a:pPr>
            <a:r>
              <a:rPr lang="en-US" sz="1850" dirty="0" err="1">
                <a:solidFill>
                  <a:srgbClr val="FFFFFF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토큰</a:t>
            </a:r>
            <a:r>
              <a:rPr lang="ko-KR" altLang="en-US" sz="1850" dirty="0">
                <a:solidFill>
                  <a:srgbClr val="FFFFFF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을 서버에 보내는 방식이므로</a:t>
            </a:r>
            <a:r>
              <a:rPr lang="en-US" altLang="ko-KR" sz="1850" dirty="0">
                <a:solidFill>
                  <a:srgbClr val="FFFFFF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,    </a:t>
            </a:r>
            <a:r>
              <a:rPr lang="en-US" altLang="ko-KR" sz="1850" dirty="0" err="1">
                <a:solidFill>
                  <a:srgbClr val="FFFFFF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모든</a:t>
            </a:r>
            <a:r>
              <a:rPr lang="en-US" altLang="ko-KR" sz="1850" dirty="0">
                <a:solidFill>
                  <a:srgbClr val="FFFFFF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 </a:t>
            </a:r>
            <a:r>
              <a:rPr lang="en-US" altLang="ko-KR" sz="1850" dirty="0" err="1">
                <a:solidFill>
                  <a:srgbClr val="FFFFFF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디바이스와</a:t>
            </a:r>
            <a:r>
              <a:rPr lang="en-US" altLang="ko-KR" sz="1850" dirty="0">
                <a:solidFill>
                  <a:srgbClr val="FFFFFF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 </a:t>
            </a:r>
            <a:r>
              <a:rPr lang="en-US" altLang="ko-KR" sz="1850" dirty="0" err="1">
                <a:solidFill>
                  <a:srgbClr val="FFFFFF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도메인에서</a:t>
            </a:r>
            <a:r>
              <a:rPr lang="en-US" sz="1850" dirty="0">
                <a:solidFill>
                  <a:srgbClr val="FFFFFF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 </a:t>
            </a:r>
            <a:r>
              <a:rPr lang="en-US" sz="1850" dirty="0" err="1">
                <a:solidFill>
                  <a:srgbClr val="FFFFFF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검증</a:t>
            </a:r>
            <a:r>
              <a:rPr lang="ko-KR" altLang="en-US" sz="1850" dirty="0">
                <a:solidFill>
                  <a:srgbClr val="FFFFFF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이</a:t>
            </a:r>
            <a:r>
              <a:rPr lang="en-US" sz="1850" dirty="0">
                <a:solidFill>
                  <a:srgbClr val="FFFFFF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 </a:t>
            </a:r>
            <a:r>
              <a:rPr lang="en-US" sz="1850" dirty="0" err="1">
                <a:solidFill>
                  <a:srgbClr val="FFFFFF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가능</a:t>
            </a:r>
            <a:r>
              <a:rPr lang="ko-KR" altLang="en-US" sz="1850" dirty="0">
                <a:solidFill>
                  <a:srgbClr val="FFFFFF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합니다</a:t>
            </a:r>
            <a:r>
              <a:rPr lang="en-US" sz="1850" dirty="0">
                <a:solidFill>
                  <a:srgbClr val="FFFFFF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. </a:t>
            </a:r>
            <a:endParaRPr lang="en-US" sz="1850" dirty="0"/>
          </a:p>
        </p:txBody>
      </p:sp>
      <p:sp>
        <p:nvSpPr>
          <p:cNvPr id="18" name="Shape 13"/>
          <p:cNvSpPr/>
          <p:nvPr/>
        </p:nvSpPr>
        <p:spPr>
          <a:xfrm>
            <a:off x="837724" y="5895380"/>
            <a:ext cx="12954952" cy="1017151"/>
          </a:xfrm>
          <a:prstGeom prst="roundRect">
            <a:avLst>
              <a:gd name="adj" fmla="val 35302"/>
            </a:avLst>
          </a:prstGeom>
          <a:solidFill>
            <a:srgbClr val="483304"/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19" name="Image 3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077039" y="6259354"/>
            <a:ext cx="299204" cy="239316"/>
          </a:xfrm>
          <a:prstGeom prst="rect">
            <a:avLst/>
          </a:prstGeom>
        </p:spPr>
      </p:pic>
      <p:sp>
        <p:nvSpPr>
          <p:cNvPr id="20" name="Text 14"/>
          <p:cNvSpPr/>
          <p:nvPr/>
        </p:nvSpPr>
        <p:spPr>
          <a:xfrm>
            <a:off x="1615559" y="6194465"/>
            <a:ext cx="11937802" cy="3830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000"/>
              </a:lnSpc>
              <a:buNone/>
            </a:pPr>
            <a:r>
              <a:rPr lang="en-US" sz="1850" dirty="0">
                <a:solidFill>
                  <a:srgbClr val="FFFFFF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토큰을 사용하면 CDN에서 정적 파일 제공, 서버는 API만 처리하는 구조 설계가 가능합니다</a:t>
            </a:r>
            <a:endParaRPr lang="en-US" sz="18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37724" y="921185"/>
            <a:ext cx="5632490" cy="70401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00"/>
              </a:lnSpc>
              <a:buNone/>
            </a:pPr>
            <a:r>
              <a:rPr lang="en-US" sz="4400" dirty="0">
                <a:solidFill>
                  <a:srgbClr val="FFFFFF"/>
                </a:solidFill>
                <a:latin typeface="Nunito Semi Bold" pitchFamily="34" charset="0"/>
                <a:ea typeface="Nunito Semi Bold" pitchFamily="34" charset="-122"/>
                <a:cs typeface="Nunito Semi Bold" pitchFamily="34" charset="-120"/>
              </a:rPr>
              <a:t>인증 방식 선택 가이드</a:t>
            </a:r>
            <a:endParaRPr lang="en-US" sz="4400" dirty="0"/>
          </a:p>
        </p:txBody>
      </p:sp>
      <p:sp>
        <p:nvSpPr>
          <p:cNvPr id="4" name="Text 1"/>
          <p:cNvSpPr/>
          <p:nvPr/>
        </p:nvSpPr>
        <p:spPr>
          <a:xfrm>
            <a:off x="294297" y="4912044"/>
            <a:ext cx="2816185" cy="3519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 err="1">
                <a:solidFill>
                  <a:srgbClr val="FFFFFF"/>
                </a:solidFill>
                <a:latin typeface="Nunito Semi Bold" pitchFamily="34" charset="0"/>
                <a:ea typeface="Nunito Semi Bold" pitchFamily="34" charset="-122"/>
                <a:cs typeface="Nunito Semi Bold" pitchFamily="34" charset="-120"/>
              </a:rPr>
              <a:t>쿠키</a:t>
            </a:r>
            <a:r>
              <a:rPr lang="en-US" sz="2200" dirty="0">
                <a:solidFill>
                  <a:srgbClr val="FFFFFF"/>
                </a:solidFill>
                <a:latin typeface="Nunito Semi Bold" pitchFamily="34" charset="0"/>
                <a:ea typeface="Nunito Semi Bold" pitchFamily="34" charset="-122"/>
                <a:cs typeface="Nunito Semi Bold" pitchFamily="34" charset="-120"/>
              </a:rPr>
              <a:t>(Cookie)</a:t>
            </a:r>
            <a:endParaRPr lang="en-US" sz="2200" dirty="0"/>
          </a:p>
        </p:txBody>
      </p:sp>
      <p:sp>
        <p:nvSpPr>
          <p:cNvPr id="5" name="Text 2"/>
          <p:cNvSpPr/>
          <p:nvPr/>
        </p:nvSpPr>
        <p:spPr>
          <a:xfrm>
            <a:off x="294297" y="5407582"/>
            <a:ext cx="4118848" cy="766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000"/>
              </a:lnSpc>
              <a:buNone/>
            </a:pPr>
            <a:r>
              <a:rPr lang="en-US" sz="1850" dirty="0">
                <a:solidFill>
                  <a:srgbClr val="FFFFFF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간단한 상태 </a:t>
            </a:r>
            <a:r>
              <a:rPr lang="en-US" sz="1850" dirty="0" err="1">
                <a:solidFill>
                  <a:srgbClr val="FFFFFF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유지에</a:t>
            </a:r>
            <a:r>
              <a:rPr lang="en-US" sz="1850" dirty="0">
                <a:solidFill>
                  <a:srgbClr val="FFFFFF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 </a:t>
            </a:r>
            <a:r>
              <a:rPr lang="en-US" sz="1850" dirty="0" err="1">
                <a:solidFill>
                  <a:srgbClr val="FFFFFF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적합하나</a:t>
            </a:r>
            <a:r>
              <a:rPr lang="en-US" sz="1850" dirty="0">
                <a:solidFill>
                  <a:srgbClr val="FFFFFF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, </a:t>
            </a:r>
            <a:r>
              <a:rPr lang="en-US" sz="1850" dirty="0" err="1">
                <a:solidFill>
                  <a:srgbClr val="FFFFFF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보안</a:t>
            </a:r>
            <a:r>
              <a:rPr lang="ko-KR" altLang="en-US" sz="1850" dirty="0">
                <a:solidFill>
                  <a:srgbClr val="FFFFFF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이 취약하여 사용하지 않음</a:t>
            </a:r>
            <a:r>
              <a:rPr lang="en-US" altLang="ko-KR" sz="1850" dirty="0">
                <a:solidFill>
                  <a:srgbClr val="FFFFFF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!</a:t>
            </a:r>
            <a:endParaRPr lang="en-US" sz="1850" dirty="0">
              <a:solidFill>
                <a:srgbClr val="FFFFFF"/>
              </a:solidFill>
              <a:latin typeface="PT Sans" pitchFamily="34" charset="0"/>
              <a:ea typeface="PT Sans" pitchFamily="34" charset="-122"/>
              <a:cs typeface="PT Sans" pitchFamily="34" charset="-120"/>
            </a:endParaRPr>
          </a:p>
        </p:txBody>
      </p:sp>
      <p:sp>
        <p:nvSpPr>
          <p:cNvPr id="7" name="Text 3"/>
          <p:cNvSpPr/>
          <p:nvPr/>
        </p:nvSpPr>
        <p:spPr>
          <a:xfrm>
            <a:off x="5062121" y="4912044"/>
            <a:ext cx="2816185" cy="3519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 err="1">
                <a:solidFill>
                  <a:srgbClr val="FFFFFF"/>
                </a:solidFill>
                <a:latin typeface="Nunito Semi Bold" pitchFamily="34" charset="0"/>
                <a:ea typeface="Nunito Semi Bold" pitchFamily="34" charset="-122"/>
                <a:cs typeface="Nunito Semi Bold" pitchFamily="34" charset="-120"/>
              </a:rPr>
              <a:t>세션</a:t>
            </a:r>
            <a:r>
              <a:rPr lang="en-US" sz="2200" dirty="0">
                <a:solidFill>
                  <a:srgbClr val="FFFFFF"/>
                </a:solidFill>
                <a:latin typeface="Nunito Semi Bold" pitchFamily="34" charset="0"/>
                <a:ea typeface="Nunito Semi Bold" pitchFamily="34" charset="-122"/>
                <a:cs typeface="Nunito Semi Bold" pitchFamily="34" charset="-120"/>
              </a:rPr>
              <a:t>(Session)</a:t>
            </a:r>
            <a:endParaRPr lang="en-US" sz="2200" dirty="0"/>
          </a:p>
        </p:txBody>
      </p:sp>
      <p:sp>
        <p:nvSpPr>
          <p:cNvPr id="8" name="Text 4"/>
          <p:cNvSpPr/>
          <p:nvPr/>
        </p:nvSpPr>
        <p:spPr>
          <a:xfrm>
            <a:off x="5062121" y="5407582"/>
            <a:ext cx="4118848" cy="766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000"/>
              </a:lnSpc>
              <a:buNone/>
            </a:pPr>
            <a:r>
              <a:rPr lang="en-US" sz="1850" dirty="0">
                <a:solidFill>
                  <a:srgbClr val="FFFFFF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높은 보안이 필요하고 사용자 관리가 중요한 시스템에 적합</a:t>
            </a:r>
            <a:endParaRPr lang="en-US" sz="1850" dirty="0"/>
          </a:p>
        </p:txBody>
      </p:sp>
      <p:sp>
        <p:nvSpPr>
          <p:cNvPr id="10" name="Text 5"/>
          <p:cNvSpPr/>
          <p:nvPr/>
        </p:nvSpPr>
        <p:spPr>
          <a:xfrm>
            <a:off x="9829945" y="4912044"/>
            <a:ext cx="2816185" cy="3519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 err="1">
                <a:solidFill>
                  <a:srgbClr val="FFFFFF"/>
                </a:solidFill>
                <a:latin typeface="Nunito Semi Bold" pitchFamily="34" charset="0"/>
                <a:ea typeface="Nunito Semi Bold" pitchFamily="34" charset="-122"/>
                <a:cs typeface="Nunito Semi Bold" pitchFamily="34" charset="-120"/>
              </a:rPr>
              <a:t>토큰</a:t>
            </a:r>
            <a:r>
              <a:rPr lang="en-US" sz="2200" dirty="0">
                <a:solidFill>
                  <a:srgbClr val="FFFFFF"/>
                </a:solidFill>
                <a:latin typeface="Nunito Semi Bold" pitchFamily="34" charset="0"/>
                <a:ea typeface="Nunito Semi Bold" pitchFamily="34" charset="-122"/>
                <a:cs typeface="Nunito Semi Bold" pitchFamily="34" charset="-120"/>
              </a:rPr>
              <a:t>(Token)</a:t>
            </a:r>
            <a:endParaRPr lang="en-US" sz="2200" dirty="0"/>
          </a:p>
        </p:txBody>
      </p:sp>
      <p:sp>
        <p:nvSpPr>
          <p:cNvPr id="11" name="Text 6"/>
          <p:cNvSpPr/>
          <p:nvPr/>
        </p:nvSpPr>
        <p:spPr>
          <a:xfrm>
            <a:off x="9829945" y="5407582"/>
            <a:ext cx="4118848" cy="766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000"/>
              </a:lnSpc>
              <a:buNone/>
            </a:pPr>
            <a:r>
              <a:rPr lang="en-US" sz="1850" dirty="0">
                <a:solidFill>
                  <a:srgbClr val="FFFFFF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확장성과 다중 플랫폼 지원이 필요한 현대적 </a:t>
            </a:r>
            <a:r>
              <a:rPr lang="en-US" sz="1850" dirty="0" err="1">
                <a:solidFill>
                  <a:srgbClr val="FFFFFF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시스템에</a:t>
            </a:r>
            <a:r>
              <a:rPr lang="en-US" sz="1850" dirty="0">
                <a:solidFill>
                  <a:srgbClr val="FFFFFF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 </a:t>
            </a:r>
            <a:r>
              <a:rPr lang="en-US" sz="1850" dirty="0" err="1">
                <a:solidFill>
                  <a:srgbClr val="FFFFFF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최적</a:t>
            </a:r>
            <a:r>
              <a:rPr lang="en-US" sz="1850" dirty="0">
                <a:solidFill>
                  <a:srgbClr val="FFFFFF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!</a:t>
            </a:r>
            <a:endParaRPr lang="en-US" sz="1850" dirty="0"/>
          </a:p>
        </p:txBody>
      </p:sp>
      <p:sp>
        <p:nvSpPr>
          <p:cNvPr id="16" name="Shape 13">
            <a:extLst>
              <a:ext uri="{FF2B5EF4-FFF2-40B4-BE49-F238E27FC236}">
                <a16:creationId xmlns:a16="http://schemas.microsoft.com/office/drawing/2014/main" id="{A418E683-4532-6BA4-36A5-3A177CBC3F66}"/>
              </a:ext>
            </a:extLst>
          </p:cNvPr>
          <p:cNvSpPr/>
          <p:nvPr/>
        </p:nvSpPr>
        <p:spPr>
          <a:xfrm>
            <a:off x="715060" y="6577489"/>
            <a:ext cx="12954952" cy="1017151"/>
          </a:xfrm>
          <a:prstGeom prst="roundRect">
            <a:avLst>
              <a:gd name="adj" fmla="val 35302"/>
            </a:avLst>
          </a:prstGeom>
          <a:solidFill>
            <a:srgbClr val="483304"/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17" name="Image 3" descr="preencoded.png">
            <a:extLst>
              <a:ext uri="{FF2B5EF4-FFF2-40B4-BE49-F238E27FC236}">
                <a16:creationId xmlns:a16="http://schemas.microsoft.com/office/drawing/2014/main" id="{4091DDF7-3D80-9461-207A-3B291B47203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54375" y="6941463"/>
            <a:ext cx="299204" cy="239316"/>
          </a:xfrm>
          <a:prstGeom prst="rect">
            <a:avLst/>
          </a:prstGeom>
        </p:spPr>
      </p:pic>
      <p:sp>
        <p:nvSpPr>
          <p:cNvPr id="18" name="Text 14">
            <a:extLst>
              <a:ext uri="{FF2B5EF4-FFF2-40B4-BE49-F238E27FC236}">
                <a16:creationId xmlns:a16="http://schemas.microsoft.com/office/drawing/2014/main" id="{4D6F6C3D-71E8-31A2-28BD-D63B1251928A}"/>
              </a:ext>
            </a:extLst>
          </p:cNvPr>
          <p:cNvSpPr/>
          <p:nvPr/>
        </p:nvSpPr>
        <p:spPr>
          <a:xfrm>
            <a:off x="1492895" y="6876574"/>
            <a:ext cx="11937802" cy="3830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3000"/>
              </a:lnSpc>
            </a:pPr>
            <a:r>
              <a:rPr lang="en-US" altLang="ko-KR" sz="1850" dirty="0">
                <a:solidFill>
                  <a:srgbClr val="FFFFFF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각 </a:t>
            </a:r>
            <a:r>
              <a:rPr lang="en-US" altLang="ko-KR" sz="1850" dirty="0" err="1">
                <a:solidFill>
                  <a:srgbClr val="FFFFFF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방식은</a:t>
            </a:r>
            <a:r>
              <a:rPr lang="en-US" altLang="ko-KR" sz="1850" dirty="0">
                <a:solidFill>
                  <a:srgbClr val="FFFFFF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 </a:t>
            </a:r>
            <a:r>
              <a:rPr lang="en-US" altLang="ko-KR" sz="1850" dirty="0" err="1">
                <a:solidFill>
                  <a:srgbClr val="FFFFFF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장단점이</a:t>
            </a:r>
            <a:r>
              <a:rPr lang="en-US" altLang="ko-KR" sz="1850" dirty="0">
                <a:solidFill>
                  <a:srgbClr val="FFFFFF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 </a:t>
            </a:r>
            <a:r>
              <a:rPr lang="en-US" altLang="ko-KR" sz="1850" dirty="0" err="1">
                <a:solidFill>
                  <a:srgbClr val="FFFFFF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명확하므로</a:t>
            </a:r>
            <a:r>
              <a:rPr lang="en-US" altLang="ko-KR" sz="1850" dirty="0">
                <a:solidFill>
                  <a:srgbClr val="FFFFFF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, </a:t>
            </a:r>
            <a:r>
              <a:rPr lang="en-US" altLang="ko-KR" sz="1850" dirty="0" err="1">
                <a:solidFill>
                  <a:srgbClr val="FFFFFF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서비스의</a:t>
            </a:r>
            <a:r>
              <a:rPr lang="en-US" altLang="ko-KR" sz="1850" dirty="0">
                <a:solidFill>
                  <a:srgbClr val="FFFFFF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 </a:t>
            </a:r>
            <a:r>
              <a:rPr lang="en-US" altLang="ko-KR" sz="1850" dirty="0" err="1">
                <a:solidFill>
                  <a:srgbClr val="FFFFFF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특성과</a:t>
            </a:r>
            <a:r>
              <a:rPr lang="en-US" altLang="ko-KR" sz="1850" dirty="0">
                <a:solidFill>
                  <a:srgbClr val="FFFFFF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 </a:t>
            </a:r>
            <a:r>
              <a:rPr lang="en-US" altLang="ko-KR" sz="1850" dirty="0" err="1">
                <a:solidFill>
                  <a:srgbClr val="FFFFFF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보안</a:t>
            </a:r>
            <a:r>
              <a:rPr lang="en-US" altLang="ko-KR" sz="1850" dirty="0">
                <a:solidFill>
                  <a:srgbClr val="FFFFFF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 </a:t>
            </a:r>
            <a:r>
              <a:rPr lang="en-US" altLang="ko-KR" sz="1850" dirty="0" err="1">
                <a:solidFill>
                  <a:srgbClr val="FFFFFF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요구사항을</a:t>
            </a:r>
            <a:r>
              <a:rPr lang="en-US" altLang="ko-KR" sz="1850" dirty="0">
                <a:solidFill>
                  <a:srgbClr val="FFFFFF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 </a:t>
            </a:r>
            <a:r>
              <a:rPr lang="en-US" altLang="ko-KR" sz="1850" dirty="0" err="1">
                <a:solidFill>
                  <a:srgbClr val="FFFFFF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고려하여</a:t>
            </a:r>
            <a:r>
              <a:rPr lang="en-US" altLang="ko-KR" sz="1850" dirty="0">
                <a:solidFill>
                  <a:srgbClr val="FFFFFF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 </a:t>
            </a:r>
            <a:r>
              <a:rPr lang="en-US" altLang="ko-KR" sz="1850" dirty="0" err="1">
                <a:solidFill>
                  <a:srgbClr val="FFFFFF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적절한</a:t>
            </a:r>
            <a:r>
              <a:rPr lang="en-US" altLang="ko-KR" sz="1850" dirty="0">
                <a:solidFill>
                  <a:srgbClr val="FFFFFF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 </a:t>
            </a:r>
            <a:r>
              <a:rPr lang="en-US" altLang="ko-KR" sz="1850" dirty="0" err="1">
                <a:solidFill>
                  <a:srgbClr val="FFFFFF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인증</a:t>
            </a:r>
            <a:r>
              <a:rPr lang="en-US" altLang="ko-KR" sz="1850" dirty="0">
                <a:solidFill>
                  <a:srgbClr val="FFFFFF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 </a:t>
            </a:r>
            <a:r>
              <a:rPr lang="en-US" altLang="ko-KR" sz="1850" dirty="0" err="1">
                <a:solidFill>
                  <a:srgbClr val="FFFFFF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방식을</a:t>
            </a:r>
            <a:r>
              <a:rPr lang="en-US" altLang="ko-KR" sz="1850" dirty="0">
                <a:solidFill>
                  <a:srgbClr val="FFFFFF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 </a:t>
            </a:r>
            <a:r>
              <a:rPr lang="en-US" altLang="ko-KR" sz="1850" dirty="0" err="1">
                <a:solidFill>
                  <a:srgbClr val="FFFFFF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선택해야</a:t>
            </a:r>
            <a:r>
              <a:rPr lang="en-US" altLang="ko-KR" sz="1850" dirty="0">
                <a:solidFill>
                  <a:srgbClr val="FFFFFF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 </a:t>
            </a:r>
            <a:r>
              <a:rPr lang="en-US" altLang="ko-KR" sz="1850" dirty="0" err="1">
                <a:solidFill>
                  <a:srgbClr val="FFFFFF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합니다</a:t>
            </a:r>
            <a:r>
              <a:rPr lang="en-US" altLang="ko-KR" sz="1850" dirty="0">
                <a:solidFill>
                  <a:srgbClr val="FFFFFF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.</a:t>
            </a:r>
            <a:endParaRPr lang="en-US" altLang="ko-KR" sz="1850" dirty="0"/>
          </a:p>
        </p:txBody>
      </p:sp>
      <p:pic>
        <p:nvPicPr>
          <p:cNvPr id="7170" name="Picture 2">
            <a:extLst>
              <a:ext uri="{FF2B5EF4-FFF2-40B4-BE49-F238E27FC236}">
                <a16:creationId xmlns:a16="http://schemas.microsoft.com/office/drawing/2014/main" id="{3DB5C8B3-8BA7-D2B1-5517-62574B5EA3D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4176" y="2281950"/>
            <a:ext cx="4566279" cy="2283140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172" name="Picture 4" descr="SaaS 세션 기간이란 무엇일까요? 주요 지표 및 최적화">
            <a:extLst>
              <a:ext uri="{FF2B5EF4-FFF2-40B4-BE49-F238E27FC236}">
                <a16:creationId xmlns:a16="http://schemas.microsoft.com/office/drawing/2014/main" id="{B7F4092E-3D39-5BB1-36C0-D4793386E03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32060" y="2281950"/>
            <a:ext cx="4566280" cy="2283140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174" name="Picture 6" descr="Jacob's Blog">
            <a:extLst>
              <a:ext uri="{FF2B5EF4-FFF2-40B4-BE49-F238E27FC236}">
                <a16:creationId xmlns:a16="http://schemas.microsoft.com/office/drawing/2014/main" id="{B7D261E4-1E81-3192-21F0-90A92DA7813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829945" y="2281950"/>
            <a:ext cx="4566279" cy="2283140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58</TotalTime>
  <Words>581</Words>
  <Application>Microsoft Office PowerPoint</Application>
  <PresentationFormat>사용자 지정</PresentationFormat>
  <Paragraphs>111</Paragraphs>
  <Slides>15</Slides>
  <Notes>15</Notes>
  <HiddenSlides>0</HiddenSlides>
  <MMClips>0</MMClips>
  <ScaleCrop>false</ScaleCrop>
  <HeadingPairs>
    <vt:vector size="6" baseType="variant">
      <vt:variant>
        <vt:lpstr>사용한 글꼴</vt:lpstr>
      </vt:variant>
      <vt:variant>
        <vt:i4>4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15</vt:i4>
      </vt:variant>
    </vt:vector>
  </HeadingPairs>
  <TitlesOfParts>
    <vt:vector size="20" baseType="lpstr">
      <vt:lpstr>Nunito Light</vt:lpstr>
      <vt:lpstr>Nunito Semi Bold</vt:lpstr>
      <vt:lpstr>Arial</vt:lpstr>
      <vt:lpstr>PT Sans</vt:lpstr>
      <vt:lpstr>Office Theme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>김재형</cp:lastModifiedBy>
  <cp:revision>2</cp:revision>
  <dcterms:created xsi:type="dcterms:W3CDTF">2025-11-06T14:09:12Z</dcterms:created>
  <dcterms:modified xsi:type="dcterms:W3CDTF">2025-11-06T15:09:17Z</dcterms:modified>
</cp:coreProperties>
</file>